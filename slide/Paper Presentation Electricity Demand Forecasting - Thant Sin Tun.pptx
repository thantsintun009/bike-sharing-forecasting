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Poppins Light" charset="1" panose="00000400000000000000"/>
      <p:regular r:id="rId23"/>
    </p:embeddedFont>
    <p:embeddedFont>
      <p:font typeface="Poppins Light Italics" charset="1" panose="00000400000000000000"/>
      <p:regular r:id="rId24"/>
    </p:embeddedFont>
    <p:embeddedFont>
      <p:font typeface="Poppins Bold Italics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arxiv.org/search/cs?searchtype=author&amp;query=Breuing,+J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https://arxiv.org/search/cs?searchtype=author&amp;query=Grandon,+T+G" TargetMode="External" Type="http://schemas.openxmlformats.org/officeDocument/2006/relationships/hyperlink"/><Relationship Id="rId8" Target="https://arxiv.org/search/cs?searchtype=author&amp;query=Schwenzer,+J" TargetMode="External" Type="http://schemas.openxmlformats.org/officeDocument/2006/relationships/hyperlink"/><Relationship Id="rId9" Target="https://arxiv.org/search/cs?searchtype=author&amp;query=Steens,+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jpeg" Type="http://schemas.openxmlformats.org/officeDocument/2006/relationships/image"/><Relationship Id="rId14" Target="../media/image5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0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5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6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png" Type="http://schemas.openxmlformats.org/officeDocument/2006/relationships/image"/><Relationship Id="rId12" Target="../media/image52.svg" Type="http://schemas.openxmlformats.org/officeDocument/2006/relationships/image"/><Relationship Id="rId13" Target="../media/image53.png" Type="http://schemas.openxmlformats.org/officeDocument/2006/relationships/image"/><Relationship Id="rId14" Target="../media/image54.png" Type="http://schemas.openxmlformats.org/officeDocument/2006/relationships/image"/><Relationship Id="rId15" Target="../media/image55.svg" Type="http://schemas.openxmlformats.org/officeDocument/2006/relationships/image"/><Relationship Id="rId16" Target="../media/image56.png" Type="http://schemas.openxmlformats.org/officeDocument/2006/relationships/image"/><Relationship Id="rId17" Target="../media/image57.svg" Type="http://schemas.openxmlformats.org/officeDocument/2006/relationships/image"/><Relationship Id="rId18" Target="../media/image58.png" Type="http://schemas.openxmlformats.org/officeDocument/2006/relationships/image"/><Relationship Id="rId19" Target="../media/image59.svg" Type="http://schemas.openxmlformats.org/officeDocument/2006/relationships/image"/><Relationship Id="rId2" Target="../media/image44.png" Type="http://schemas.openxmlformats.org/officeDocument/2006/relationships/image"/><Relationship Id="rId20" Target="../media/image60.png" Type="http://schemas.openxmlformats.org/officeDocument/2006/relationships/image"/><Relationship Id="rId21" Target="../media/image5.png" Type="http://schemas.openxmlformats.org/officeDocument/2006/relationships/image"/><Relationship Id="rId3" Target="../media/image4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63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4.jpeg" Type="http://schemas.openxmlformats.org/officeDocument/2006/relationships/image"/><Relationship Id="rId5" Target="../media/image65.jpeg" Type="http://schemas.openxmlformats.org/officeDocument/2006/relationships/image"/><Relationship Id="rId6" Target="../media/image66.jpeg" Type="http://schemas.openxmlformats.org/officeDocument/2006/relationships/image"/><Relationship Id="rId7" Target="../media/image67.jpe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jpeg" Type="http://schemas.openxmlformats.org/officeDocument/2006/relationships/image"/><Relationship Id="rId11" Target="../media/image75.jpeg" Type="http://schemas.openxmlformats.org/officeDocument/2006/relationships/image"/><Relationship Id="rId12" Target="../media/image76.jpe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15" Target="../media/image44.png" Type="http://schemas.openxmlformats.org/officeDocument/2006/relationships/image"/><Relationship Id="rId16" Target="../media/image45.svg" Type="http://schemas.openxmlformats.org/officeDocument/2006/relationships/image"/><Relationship Id="rId17" Target="../media/image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jpeg" Type="http://schemas.openxmlformats.org/officeDocument/2006/relationships/image"/><Relationship Id="rId9" Target="../media/image7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14052" y="42360"/>
            <a:ext cx="7645248" cy="7417732"/>
            <a:chOff x="0" y="0"/>
            <a:chExt cx="10193663" cy="98903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90310" cy="9890310"/>
            </a:xfrm>
            <a:custGeom>
              <a:avLst/>
              <a:gdLst/>
              <a:ahLst/>
              <a:cxnLst/>
              <a:rect r="r" b="b" t="t" l="l"/>
              <a:pathLst>
                <a:path h="9890310" w="9890310">
                  <a:moveTo>
                    <a:pt x="0" y="0"/>
                  </a:moveTo>
                  <a:lnTo>
                    <a:pt x="9890310" y="0"/>
                  </a:lnTo>
                  <a:lnTo>
                    <a:pt x="9890310" y="9890310"/>
                  </a:lnTo>
                  <a:lnTo>
                    <a:pt x="0" y="9890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6900115" y="1174802"/>
              <a:ext cx="3293549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344334" y="1174802"/>
              <a:ext cx="3293549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745443"/>
            <a:ext cx="14995519" cy="387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8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Report</a:t>
            </a:r>
            <a:r>
              <a:rPr lang="en-US" sz="8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8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Electricity Demand Forecasting with Hybrid Statistical and ML Algorithms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720518"/>
            <a:ext cx="3954563" cy="103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 i="true">
                <a:solidFill>
                  <a:srgbClr val="000000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Data is the new oil. Insight is the new currency. Models become new electricity.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3521913" y="28692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32022" y="6578134"/>
            <a:ext cx="1855978" cy="3708866"/>
          </a:xfrm>
          <a:custGeom>
            <a:avLst/>
            <a:gdLst/>
            <a:ahLst/>
            <a:cxnLst/>
            <a:rect r="r" b="b" t="t" l="l"/>
            <a:pathLst>
              <a:path h="3708866" w="1855978">
                <a:moveTo>
                  <a:pt x="0" y="0"/>
                </a:moveTo>
                <a:lnTo>
                  <a:pt x="1855978" y="0"/>
                </a:lnTo>
                <a:lnTo>
                  <a:pt x="1855978" y="3708866"/>
                </a:lnTo>
                <a:lnTo>
                  <a:pt x="0" y="370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847992" y="7680277"/>
            <a:ext cx="9176227" cy="2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Authors: </a:t>
            </a:r>
            <a:r>
              <a:rPr lang="en-US" sz="15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7" tooltip="https://arxiv.org/search/cs?searchtype=author&amp;query=Grandon,+T+G"/>
              </a:rPr>
              <a:t>Tatiana Gonzalez Grandon</a:t>
            </a: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5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8" tooltip="https://arxiv.org/search/cs?searchtype=author&amp;query=Schwenzer,+J"/>
              </a:rPr>
              <a:t>Johannes Schwenzer</a:t>
            </a: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5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9" tooltip="https://arxiv.org/search/cs?searchtype=author&amp;query=Steens,+T"/>
              </a:rPr>
              <a:t>Thomas Steens</a:t>
            </a: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5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0" tooltip="https://arxiv.org/search/cs?searchtype=author&amp;query=Breuing,+J"/>
              </a:rPr>
              <a:t>Julia Breuing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2534" y="913638"/>
            <a:ext cx="4576766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Professor Dr. Sithu Aung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91561" y="4599023"/>
            <a:ext cx="664125" cy="447454"/>
          </a:xfrm>
          <a:custGeom>
            <a:avLst/>
            <a:gdLst/>
            <a:ahLst/>
            <a:cxnLst/>
            <a:rect r="r" b="b" t="t" l="l"/>
            <a:pathLst>
              <a:path h="447454" w="664125">
                <a:moveTo>
                  <a:pt x="0" y="0"/>
                </a:moveTo>
                <a:lnTo>
                  <a:pt x="664125" y="0"/>
                </a:lnTo>
                <a:lnTo>
                  <a:pt x="664125" y="447454"/>
                </a:lnTo>
                <a:lnTo>
                  <a:pt x="0" y="447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91561" y="6016926"/>
            <a:ext cx="664125" cy="447454"/>
          </a:xfrm>
          <a:custGeom>
            <a:avLst/>
            <a:gdLst/>
            <a:ahLst/>
            <a:cxnLst/>
            <a:rect r="r" b="b" t="t" l="l"/>
            <a:pathLst>
              <a:path h="447454" w="664125">
                <a:moveTo>
                  <a:pt x="0" y="0"/>
                </a:moveTo>
                <a:lnTo>
                  <a:pt x="664125" y="0"/>
                </a:lnTo>
                <a:lnTo>
                  <a:pt x="664125" y="447454"/>
                </a:lnTo>
                <a:lnTo>
                  <a:pt x="0" y="447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94582" y="4218937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39263" y="6794448"/>
            <a:ext cx="2032225" cy="20322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2992" t="0" r="-2299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107038" y="6794448"/>
            <a:ext cx="2032225" cy="203222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25046" t="0" r="-25046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186665" y="-17340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655686" y="-4702978"/>
            <a:ext cx="8598117" cy="859811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37719" t="0" r="-37719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909631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074813" y="6794448"/>
            <a:ext cx="2032225" cy="203222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-25046" t="0" r="-25046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004485" y="2216312"/>
            <a:ext cx="8319139" cy="127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3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PAPER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04485" y="4469039"/>
            <a:ext cx="6237331" cy="96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64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Predict national electricity demand (hourly, long-term) for Ukraine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02002" y="5203381"/>
            <a:ext cx="5379961" cy="3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Grounded in evidence, not guesswork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02002" y="6621284"/>
            <a:ext cx="5379961" cy="3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Reduce the unnecessary costs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02002" y="4627869"/>
            <a:ext cx="4910611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1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Improved Decision-Making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02002" y="6045772"/>
            <a:ext cx="4910611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1"/>
              </a:lnSpc>
              <a:spcBef>
                <a:spcPct val="0"/>
              </a:spcBef>
            </a:pPr>
            <a:r>
              <a:rPr lang="en-US" b="true" sz="2100">
                <a:solidFill>
                  <a:srgbClr val="FFE11E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100" strike="noStrike" u="none">
                <a:solidFill>
                  <a:srgbClr val="FFE11E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100" strike="noStrike" u="none">
                <a:solidFill>
                  <a:srgbClr val="FFE11E"/>
                </a:solidFill>
                <a:latin typeface="Poppins Bold"/>
                <a:ea typeface="Poppins Bold"/>
                <a:cs typeface="Poppins Bold"/>
                <a:sym typeface="Poppins Bold"/>
              </a:rPr>
              <a:t>st R</a:t>
            </a:r>
            <a:r>
              <a:rPr lang="en-US" b="true" sz="2100" strike="noStrike" u="none">
                <a:solidFill>
                  <a:srgbClr val="FFE11E"/>
                </a:solidFill>
                <a:latin typeface="Poppins Bold"/>
                <a:ea typeface="Poppins Bold"/>
                <a:cs typeface="Poppins Bold"/>
                <a:sym typeface="Poppins Bold"/>
              </a:rPr>
              <a:t>ed</a:t>
            </a:r>
            <a:r>
              <a:rPr lang="en-US" b="true" sz="2100" strike="noStrike" u="none">
                <a:solidFill>
                  <a:srgbClr val="FFE11E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2100" strike="noStrike" u="none">
                <a:solidFill>
                  <a:srgbClr val="FFE11E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100" strike="noStrike" u="none">
                <a:solidFill>
                  <a:srgbClr val="FFE11E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100" strike="noStrike" u="none">
                <a:solidFill>
                  <a:srgbClr val="FFE11E"/>
                </a:solidFill>
                <a:latin typeface="Poppins Bold"/>
                <a:ea typeface="Poppins Bold"/>
                <a:cs typeface="Poppins Bold"/>
                <a:sym typeface="Poppins Bold"/>
              </a:rPr>
              <a:t>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91561" y="7511029"/>
            <a:ext cx="7251648" cy="870275"/>
            <a:chOff x="0" y="0"/>
            <a:chExt cx="9668863" cy="11603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5500" cy="596605"/>
            </a:xfrm>
            <a:custGeom>
              <a:avLst/>
              <a:gdLst/>
              <a:ahLst/>
              <a:cxnLst/>
              <a:rect r="r" b="b" t="t" l="l"/>
              <a:pathLst>
                <a:path h="596605" w="885500">
                  <a:moveTo>
                    <a:pt x="0" y="0"/>
                  </a:moveTo>
                  <a:lnTo>
                    <a:pt x="885500" y="0"/>
                  </a:lnTo>
                  <a:lnTo>
                    <a:pt x="885500" y="596605"/>
                  </a:lnTo>
                  <a:lnTo>
                    <a:pt x="0" y="596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347255" y="762094"/>
              <a:ext cx="8321609" cy="398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8"/>
                </a:lnSpc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Monitor and improve the electricity  load continuously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347255" y="-5255"/>
              <a:ext cx="6547482" cy="4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1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rmanc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 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Opt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z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</a:t>
              </a:r>
              <a:r>
                <a:rPr lang="en-US" b="true" sz="2100" strike="noStrike" u="non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72330" y="-301631"/>
            <a:ext cx="11288679" cy="10588631"/>
          </a:xfrm>
          <a:custGeom>
            <a:avLst/>
            <a:gdLst/>
            <a:ahLst/>
            <a:cxnLst/>
            <a:rect r="r" b="b" t="t" l="l"/>
            <a:pathLst>
              <a:path h="10588631" w="11288679">
                <a:moveTo>
                  <a:pt x="0" y="0"/>
                </a:moveTo>
                <a:lnTo>
                  <a:pt x="11288679" y="0"/>
                </a:lnTo>
                <a:lnTo>
                  <a:pt x="11288679" y="10588631"/>
                </a:lnTo>
                <a:lnTo>
                  <a:pt x="0" y="10588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 l="-18620" t="-56509" r="0" b="-3301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727835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105443" y="-2025655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06525" y="1305587"/>
            <a:ext cx="968045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179351" y="6010478"/>
            <a:ext cx="8356064" cy="3564569"/>
            <a:chOff x="0" y="0"/>
            <a:chExt cx="2200774" cy="9388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0774" cy="938817"/>
            </a:xfrm>
            <a:custGeom>
              <a:avLst/>
              <a:gdLst/>
              <a:ahLst/>
              <a:cxnLst/>
              <a:rect r="r" b="b" t="t" l="l"/>
              <a:pathLst>
                <a:path h="938817" w="2200774">
                  <a:moveTo>
                    <a:pt x="37060" y="0"/>
                  </a:moveTo>
                  <a:lnTo>
                    <a:pt x="2163714" y="0"/>
                  </a:lnTo>
                  <a:cubicBezTo>
                    <a:pt x="2184182" y="0"/>
                    <a:pt x="2200774" y="16592"/>
                    <a:pt x="2200774" y="37060"/>
                  </a:cubicBezTo>
                  <a:lnTo>
                    <a:pt x="2200774" y="901756"/>
                  </a:lnTo>
                  <a:cubicBezTo>
                    <a:pt x="2200774" y="922224"/>
                    <a:pt x="2184182" y="938817"/>
                    <a:pt x="2163714" y="938817"/>
                  </a:cubicBezTo>
                  <a:lnTo>
                    <a:pt x="37060" y="938817"/>
                  </a:lnTo>
                  <a:cubicBezTo>
                    <a:pt x="16592" y="938817"/>
                    <a:pt x="0" y="922224"/>
                    <a:pt x="0" y="901756"/>
                  </a:cubicBezTo>
                  <a:lnTo>
                    <a:pt x="0" y="37060"/>
                  </a:lnTo>
                  <a:cubicBezTo>
                    <a:pt x="0" y="16592"/>
                    <a:pt x="16592" y="0"/>
                    <a:pt x="37060" y="0"/>
                  </a:cubicBezTo>
                  <a:close/>
                </a:path>
              </a:pathLst>
            </a:custGeom>
            <a:solidFill>
              <a:srgbClr val="FFE11E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66675"/>
              <a:ext cx="2200774" cy="872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8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925628" y="573224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3600450"/>
            <a:ext cx="7009550" cy="3564569"/>
            <a:chOff x="0" y="0"/>
            <a:chExt cx="1846137" cy="9388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46137" cy="938817"/>
            </a:xfrm>
            <a:custGeom>
              <a:avLst/>
              <a:gdLst/>
              <a:ahLst/>
              <a:cxnLst/>
              <a:rect r="r" b="b" t="t" l="l"/>
              <a:pathLst>
                <a:path h="938817" w="1846137">
                  <a:moveTo>
                    <a:pt x="45284" y="0"/>
                  </a:moveTo>
                  <a:lnTo>
                    <a:pt x="1800853" y="0"/>
                  </a:lnTo>
                  <a:cubicBezTo>
                    <a:pt x="1825862" y="0"/>
                    <a:pt x="1846137" y="20274"/>
                    <a:pt x="1846137" y="45284"/>
                  </a:cubicBezTo>
                  <a:lnTo>
                    <a:pt x="1846137" y="893533"/>
                  </a:lnTo>
                  <a:cubicBezTo>
                    <a:pt x="1846137" y="918542"/>
                    <a:pt x="1825862" y="938817"/>
                    <a:pt x="1800853" y="938817"/>
                  </a:cubicBezTo>
                  <a:lnTo>
                    <a:pt x="45284" y="938817"/>
                  </a:lnTo>
                  <a:cubicBezTo>
                    <a:pt x="20274" y="938817"/>
                    <a:pt x="0" y="918542"/>
                    <a:pt x="0" y="893533"/>
                  </a:cubicBezTo>
                  <a:lnTo>
                    <a:pt x="0" y="45284"/>
                  </a:lnTo>
                  <a:cubicBezTo>
                    <a:pt x="0" y="20274"/>
                    <a:pt x="20274" y="0"/>
                    <a:pt x="45284" y="0"/>
                  </a:cubicBezTo>
                  <a:close/>
                </a:path>
              </a:pathLst>
            </a:custGeom>
            <a:solidFill>
              <a:srgbClr val="0057B7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1846137" cy="872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2224216"/>
            <a:ext cx="7329305" cy="9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865245"/>
            <a:ext cx="7009550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Electricity drives economic growth and development, today.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ey role in low - carbon transition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Forecast accuracy → major cost savings (e.g., 1% = millions saved)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6499268"/>
            <a:ext cx="8356064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Forecasting demand is still difficult.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The system is complex, influenced by many factors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equires predictions across different time horizons (from daily operations to long-term planning)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4758487"/>
            <a:ext cx="7329305" cy="9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Limitations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5934" y="18405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9193" y="1955873"/>
            <a:ext cx="4471110" cy="447111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4906" t="0" r="-2490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862238" y="5617130"/>
            <a:ext cx="3166001" cy="31660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06" t="0" r="-24906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1027843" y="82296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7259300" y="-1189185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792974" y="5672722"/>
            <a:ext cx="1508522" cy="150852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11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8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096459" y="5988039"/>
            <a:ext cx="901553" cy="877887"/>
          </a:xfrm>
          <a:custGeom>
            <a:avLst/>
            <a:gdLst/>
            <a:ahLst/>
            <a:cxnLst/>
            <a:rect r="r" b="b" t="t" l="l"/>
            <a:pathLst>
              <a:path h="877887" w="901553">
                <a:moveTo>
                  <a:pt x="0" y="0"/>
                </a:moveTo>
                <a:lnTo>
                  <a:pt x="901553" y="0"/>
                </a:lnTo>
                <a:lnTo>
                  <a:pt x="901553" y="877888"/>
                </a:lnTo>
                <a:lnTo>
                  <a:pt x="0" y="8778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43244" y="1799154"/>
            <a:ext cx="7279059" cy="233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5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Types of Forecasting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43244" y="4581953"/>
            <a:ext cx="8016056" cy="4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4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handle this, forecasting is divided into three levels: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43244" y="5342472"/>
            <a:ext cx="5902085" cy="3715317"/>
            <a:chOff x="0" y="0"/>
            <a:chExt cx="7869446" cy="495375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824064"/>
              <a:ext cx="7869446" cy="43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0"/>
                </a:lnSpc>
              </a:pPr>
              <a:r>
                <a:rPr lang="en-US" sz="2008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For daily operations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26538" y="-47625"/>
              <a:ext cx="6808667" cy="511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9"/>
                </a:lnSpc>
              </a:pPr>
              <a:r>
                <a:rPr lang="en-US" sz="2342" b="true">
                  <a:solidFill>
                    <a:srgbClr val="FFB54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Short-term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58315"/>
              <a:ext cx="519177" cy="349796"/>
            </a:xfrm>
            <a:custGeom>
              <a:avLst/>
              <a:gdLst/>
              <a:ahLst/>
              <a:cxnLst/>
              <a:rect r="r" b="b" t="t" l="l"/>
              <a:pathLst>
                <a:path h="349796" w="519177">
                  <a:moveTo>
                    <a:pt x="0" y="0"/>
                  </a:moveTo>
                  <a:lnTo>
                    <a:pt x="519177" y="0"/>
                  </a:lnTo>
                  <a:lnTo>
                    <a:pt x="519177" y="349796"/>
                  </a:lnTo>
                  <a:lnTo>
                    <a:pt x="0" y="349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2697289"/>
              <a:ext cx="7869446" cy="43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0"/>
                </a:lnSpc>
              </a:pPr>
              <a:r>
                <a:rPr lang="en-US" sz="2008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For planning and maintenance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26538" y="1825600"/>
              <a:ext cx="4495564" cy="51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9"/>
                </a:lnSpc>
              </a:pPr>
              <a:r>
                <a:rPr lang="en-US" sz="2342" b="tru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Medium-term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931539"/>
              <a:ext cx="519177" cy="349796"/>
            </a:xfrm>
            <a:custGeom>
              <a:avLst/>
              <a:gdLst/>
              <a:ahLst/>
              <a:cxnLst/>
              <a:rect r="r" b="b" t="t" l="l"/>
              <a:pathLst>
                <a:path h="349796" w="519177">
                  <a:moveTo>
                    <a:pt x="0" y="0"/>
                  </a:moveTo>
                  <a:lnTo>
                    <a:pt x="519177" y="0"/>
                  </a:lnTo>
                  <a:lnTo>
                    <a:pt x="519177" y="349796"/>
                  </a:lnTo>
                  <a:lnTo>
                    <a:pt x="0" y="349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4513839"/>
              <a:ext cx="7869446" cy="43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0"/>
                </a:lnSpc>
              </a:pPr>
              <a:r>
                <a:rPr lang="en-US" sz="2008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For infrastructure and investment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26538" y="3642150"/>
              <a:ext cx="6808667" cy="511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9"/>
                </a:lnSpc>
              </a:pPr>
              <a:r>
                <a:rPr lang="en-US" sz="2342" b="true">
                  <a:solidFill>
                    <a:srgbClr val="FF751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Long-term</a:t>
              </a:r>
            </a:p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0" y="3748090"/>
              <a:ext cx="519177" cy="349796"/>
            </a:xfrm>
            <a:custGeom>
              <a:avLst/>
              <a:gdLst/>
              <a:ahLst/>
              <a:cxnLst/>
              <a:rect r="r" b="b" t="t" l="l"/>
              <a:pathLst>
                <a:path h="349796" w="519177">
                  <a:moveTo>
                    <a:pt x="0" y="0"/>
                  </a:moveTo>
                  <a:lnTo>
                    <a:pt x="519177" y="0"/>
                  </a:lnTo>
                  <a:lnTo>
                    <a:pt x="519177" y="349796"/>
                  </a:lnTo>
                  <a:lnTo>
                    <a:pt x="0" y="349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27" id="27"/>
          <p:cNvSpPr/>
          <p:nvPr/>
        </p:nvSpPr>
        <p:spPr>
          <a:xfrm>
            <a:off x="10206525" y="1305587"/>
            <a:ext cx="968045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75245" y="-2360583"/>
            <a:ext cx="6422399" cy="6422399"/>
          </a:xfrm>
          <a:custGeom>
            <a:avLst/>
            <a:gdLst/>
            <a:ahLst/>
            <a:cxnLst/>
            <a:rect r="r" b="b" t="t" l="l"/>
            <a:pathLst>
              <a:path h="6422399" w="6422399">
                <a:moveTo>
                  <a:pt x="0" y="0"/>
                </a:moveTo>
                <a:lnTo>
                  <a:pt x="6422399" y="0"/>
                </a:lnTo>
                <a:lnTo>
                  <a:pt x="6422399" y="6422399"/>
                </a:lnTo>
                <a:lnTo>
                  <a:pt x="0" y="6422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2882773" y="1305587"/>
            <a:ext cx="949220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331794" y="7395517"/>
            <a:ext cx="807744" cy="606818"/>
          </a:xfrm>
          <a:custGeom>
            <a:avLst/>
            <a:gdLst/>
            <a:ahLst/>
            <a:cxnLst/>
            <a:rect r="r" b="b" t="t" l="l"/>
            <a:pathLst>
              <a:path h="606818" w="807744">
                <a:moveTo>
                  <a:pt x="0" y="0"/>
                </a:moveTo>
                <a:lnTo>
                  <a:pt x="807744" y="0"/>
                </a:lnTo>
                <a:lnTo>
                  <a:pt x="807744" y="606817"/>
                </a:lnTo>
                <a:lnTo>
                  <a:pt x="0" y="606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56782" y="2105025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72623" y="3966617"/>
            <a:ext cx="9769513" cy="2137711"/>
          </a:xfrm>
          <a:custGeom>
            <a:avLst/>
            <a:gdLst/>
            <a:ahLst/>
            <a:cxnLst/>
            <a:rect r="r" b="b" t="t" l="l"/>
            <a:pathLst>
              <a:path h="2137711" w="9769513">
                <a:moveTo>
                  <a:pt x="0" y="0"/>
                </a:moveTo>
                <a:lnTo>
                  <a:pt x="9769514" y="0"/>
                </a:lnTo>
                <a:lnTo>
                  <a:pt x="9769514" y="2137711"/>
                </a:lnTo>
                <a:lnTo>
                  <a:pt x="0" y="21377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127" t="0" r="-5279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9331794" y="2720945"/>
            <a:ext cx="7333854" cy="84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5"/>
              </a:lnSpc>
            </a:pPr>
            <a:r>
              <a:rPr lang="en-US" sz="6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Literature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1794" y="4282271"/>
            <a:ext cx="6806098" cy="153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Hybrid Models (Key Idea)</a:t>
            </a:r>
          </a:p>
          <a:p>
            <a:pPr algn="l">
              <a:lnSpc>
                <a:spcPts val="3960"/>
              </a:lnSpc>
            </a:pPr>
          </a:p>
          <a:p>
            <a:pPr algn="l" marL="777240" indent="-388620" lvl="1">
              <a:lnSpc>
                <a:spcPts val="3960"/>
              </a:lnSpc>
              <a:buFont typeface="Arial"/>
              <a:buChar char="•"/>
            </a:pPr>
            <a:r>
              <a:rPr lang="en-US" sz="36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Combine </a:t>
            </a:r>
            <a:r>
              <a:rPr lang="en-US" sz="36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CST + ML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121446" y="8231307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57099" y="2646235"/>
            <a:ext cx="807744" cy="805724"/>
          </a:xfrm>
          <a:custGeom>
            <a:avLst/>
            <a:gdLst/>
            <a:ahLst/>
            <a:cxnLst/>
            <a:rect r="r" b="b" t="t" l="l"/>
            <a:pathLst>
              <a:path h="805724" w="807744">
                <a:moveTo>
                  <a:pt x="0" y="0"/>
                </a:moveTo>
                <a:lnTo>
                  <a:pt x="807744" y="0"/>
                </a:lnTo>
                <a:lnTo>
                  <a:pt x="807744" y="805725"/>
                </a:lnTo>
                <a:lnTo>
                  <a:pt x="0" y="8057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7099" y="5780456"/>
            <a:ext cx="807744" cy="699708"/>
          </a:xfrm>
          <a:custGeom>
            <a:avLst/>
            <a:gdLst/>
            <a:ahLst/>
            <a:cxnLst/>
            <a:rect r="r" b="b" t="t" l="l"/>
            <a:pathLst>
              <a:path h="699708" w="807744">
                <a:moveTo>
                  <a:pt x="0" y="0"/>
                </a:moveTo>
                <a:lnTo>
                  <a:pt x="807744" y="0"/>
                </a:lnTo>
                <a:lnTo>
                  <a:pt x="807744" y="699709"/>
                </a:lnTo>
                <a:lnTo>
                  <a:pt x="0" y="6997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7099" y="7828444"/>
            <a:ext cx="807744" cy="805724"/>
          </a:xfrm>
          <a:custGeom>
            <a:avLst/>
            <a:gdLst/>
            <a:ahLst/>
            <a:cxnLst/>
            <a:rect r="r" b="b" t="t" l="l"/>
            <a:pathLst>
              <a:path h="805724" w="807744">
                <a:moveTo>
                  <a:pt x="0" y="0"/>
                </a:moveTo>
                <a:lnTo>
                  <a:pt x="807744" y="0"/>
                </a:lnTo>
                <a:lnTo>
                  <a:pt x="807744" y="805725"/>
                </a:lnTo>
                <a:lnTo>
                  <a:pt x="0" y="8057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96763" y="7448141"/>
            <a:ext cx="5549547" cy="11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3006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Hybrid CST + LSTM model</a:t>
            </a:r>
          </a:p>
          <a:p>
            <a:pPr algn="l" marL="388622" indent="-194311" lvl="1">
              <a:lnSpc>
                <a:spcPts val="3006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Predict long-term dem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and with </a:t>
            </a:r>
            <a:r>
              <a:rPr lang="en-US" sz="1800" u="sng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hourly detail</a:t>
            </a:r>
          </a:p>
          <a:p>
            <a:pPr algn="l" marL="388622" indent="-194311" lvl="1">
              <a:lnSpc>
                <a:spcPts val="3006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Case study: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 Ukraine (2013–2020)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96763" y="7011946"/>
            <a:ext cx="3627854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 b="true">
                <a:solidFill>
                  <a:srgbClr val="FFB547"/>
                </a:solidFill>
                <a:latin typeface="Poppins Bold"/>
                <a:ea typeface="Poppins Bold"/>
                <a:cs typeface="Poppins Bold"/>
                <a:sym typeface="Poppins Bold"/>
              </a:rPr>
              <a:t>This Paper will contribute: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36041" y="2740868"/>
            <a:ext cx="2587897" cy="3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Two Main Approaches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36041" y="3201497"/>
            <a:ext cx="5012892" cy="154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Classical Statistical Techniques (CST)</a:t>
            </a:r>
          </a:p>
          <a:p>
            <a:pPr algn="l" marL="777243" indent="-259081" lvl="2">
              <a:lnSpc>
                <a:spcPts val="3078"/>
              </a:lnSpc>
              <a:buFont typeface="Arial"/>
              <a:buChar char="⚬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Regression, ARIMA (Linear model)</a:t>
            </a:r>
          </a:p>
          <a:p>
            <a:pPr algn="l">
              <a:lnSpc>
                <a:spcPts val="2052"/>
              </a:lnSpc>
            </a:pP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Machine Learning (ML)</a:t>
            </a:r>
          </a:p>
          <a:p>
            <a:pPr algn="l" marL="777243" indent="-259081" lvl="2">
              <a:lnSpc>
                <a:spcPts val="2358"/>
              </a:lnSpc>
              <a:buFont typeface="Arial"/>
              <a:buChar char="⚬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ANN, RNN, LSTM (Non-linearity)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36041" y="2237998"/>
            <a:ext cx="6036582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on electricity load forecasting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36041" y="5838561"/>
            <a:ext cx="5012892" cy="102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754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CST: MAPE ~2.6%–3.9%</a:t>
            </a:r>
          </a:p>
          <a:p>
            <a:pPr algn="l" marL="388622" indent="-194311" lvl="1">
              <a:lnSpc>
                <a:spcPts val="2754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ML: MAPE ~3.6%–3.7%</a:t>
            </a:r>
          </a:p>
          <a:p>
            <a:pPr algn="l" marL="388622" indent="-194311" lvl="1">
              <a:lnSpc>
                <a:spcPts val="2754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Mixed results → no clear winner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36041" y="5319211"/>
            <a:ext cx="5012892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 b="true">
                <a:solidFill>
                  <a:srgbClr val="FFB547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Insights (Past papers)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36041" y="7942128"/>
            <a:ext cx="5717012" cy="89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ML mostly used for short-term forecasting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Long-term forecasting still underdeveloped</a:t>
            </a:r>
          </a:p>
          <a:p>
            <a:pPr algn="l" marL="388622" indent="-194311" lvl="1">
              <a:lnSpc>
                <a:spcPts val="235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Models often tested separately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36041" y="7439257"/>
            <a:ext cx="4601174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Limitations/Gap in Literature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20320" y="-3733347"/>
            <a:ext cx="6870057" cy="6870057"/>
          </a:xfrm>
          <a:custGeom>
            <a:avLst/>
            <a:gdLst/>
            <a:ahLst/>
            <a:cxnLst/>
            <a:rect r="r" b="b" t="t" l="l"/>
            <a:pathLst>
              <a:path h="6870057" w="6870057">
                <a:moveTo>
                  <a:pt x="0" y="0"/>
                </a:moveTo>
                <a:lnTo>
                  <a:pt x="6870057" y="0"/>
                </a:lnTo>
                <a:lnTo>
                  <a:pt x="6870057" y="6870057"/>
                </a:lnTo>
                <a:lnTo>
                  <a:pt x="0" y="6870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345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25872"/>
            <a:ext cx="8426767" cy="171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Overview of Ukraine’s Electricity Demand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906713" y="8690717"/>
            <a:ext cx="1813427" cy="1813427"/>
          </a:xfrm>
          <a:custGeom>
            <a:avLst/>
            <a:gdLst/>
            <a:ahLst/>
            <a:cxnLst/>
            <a:rect r="r" b="b" t="t" l="l"/>
            <a:pathLst>
              <a:path h="1813427" w="1813427">
                <a:moveTo>
                  <a:pt x="0" y="0"/>
                </a:moveTo>
                <a:lnTo>
                  <a:pt x="1813426" y="0"/>
                </a:lnTo>
                <a:lnTo>
                  <a:pt x="1813426" y="1813427"/>
                </a:lnTo>
                <a:lnTo>
                  <a:pt x="0" y="1813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04216" y="-1174800"/>
            <a:ext cx="6040007" cy="6040007"/>
          </a:xfrm>
          <a:custGeom>
            <a:avLst/>
            <a:gdLst/>
            <a:ahLst/>
            <a:cxnLst/>
            <a:rect r="r" b="b" t="t" l="l"/>
            <a:pathLst>
              <a:path h="6040007" w="6040007">
                <a:moveTo>
                  <a:pt x="0" y="0"/>
                </a:moveTo>
                <a:lnTo>
                  <a:pt x="6040007" y="0"/>
                </a:lnTo>
                <a:lnTo>
                  <a:pt x="6040007" y="6040007"/>
                </a:lnTo>
                <a:lnTo>
                  <a:pt x="0" y="60400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863135" y="4837643"/>
            <a:ext cx="8039047" cy="3385779"/>
            <a:chOff x="0" y="0"/>
            <a:chExt cx="10718729" cy="45143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411581"/>
              <a:ext cx="5933047" cy="3691210"/>
            </a:xfrm>
            <a:custGeom>
              <a:avLst/>
              <a:gdLst/>
              <a:ahLst/>
              <a:cxnLst/>
              <a:rect r="r" b="b" t="t" l="l"/>
              <a:pathLst>
                <a:path h="3691210" w="5933047">
                  <a:moveTo>
                    <a:pt x="0" y="0"/>
                  </a:moveTo>
                  <a:lnTo>
                    <a:pt x="5933047" y="0"/>
                  </a:lnTo>
                  <a:lnTo>
                    <a:pt x="5933047" y="3691210"/>
                  </a:lnTo>
                  <a:lnTo>
                    <a:pt x="0" y="3691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149015" y="0"/>
              <a:ext cx="3569714" cy="4514372"/>
            </a:xfrm>
            <a:custGeom>
              <a:avLst/>
              <a:gdLst/>
              <a:ahLst/>
              <a:cxnLst/>
              <a:rect r="r" b="b" t="t" l="l"/>
              <a:pathLst>
                <a:path h="4514372" w="3569714">
                  <a:moveTo>
                    <a:pt x="0" y="0"/>
                  </a:moveTo>
                  <a:lnTo>
                    <a:pt x="3569714" y="0"/>
                  </a:lnTo>
                  <a:lnTo>
                    <a:pt x="3569714" y="4514372"/>
                  </a:lnTo>
                  <a:lnTo>
                    <a:pt x="0" y="4514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824487"/>
            <a:ext cx="7693555" cy="5412091"/>
            <a:chOff x="0" y="0"/>
            <a:chExt cx="10258074" cy="721612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618480" y="858944"/>
              <a:ext cx="8073634" cy="7341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9929" indent="-179964" lvl="1">
                <a:lnSpc>
                  <a:spcPts val="2183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Developing country in political &amp; economic crisis</a:t>
              </a:r>
            </a:p>
            <a:p>
              <a:pPr algn="l" marL="359929" indent="-179964" lvl="1">
                <a:lnSpc>
                  <a:spcPts val="2183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Energy security is critical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18480" y="-38100"/>
              <a:ext cx="3827344" cy="420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7"/>
                </a:lnSpc>
              </a:pPr>
              <a:r>
                <a:rPr lang="en-US" sz="1944" b="tru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Ukraine’s Context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350" y="129708"/>
              <a:ext cx="1307407" cy="1043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27"/>
                </a:lnSpc>
              </a:pPr>
              <a:r>
                <a:rPr lang="en-US" sz="4677">
                  <a:solidFill>
                    <a:srgbClr val="FFB547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543705" y="2695302"/>
              <a:ext cx="8714369" cy="23533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9929" indent="-179964" lvl="1">
                <a:lnSpc>
                  <a:spcPts val="2333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Demand affected by macroeconomic factors:</a:t>
              </a:r>
            </a:p>
            <a:p>
              <a:pPr algn="l" marL="1079786" indent="-269946" lvl="3">
                <a:lnSpc>
                  <a:spcPts val="2333"/>
                </a:lnSpc>
                <a:buFont typeface="Arial"/>
                <a:buChar char="￭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Population, GDP, GDP growth</a:t>
              </a:r>
            </a:p>
            <a:p>
              <a:pPr algn="l">
                <a:lnSpc>
                  <a:spcPts val="2333"/>
                </a:lnSpc>
              </a:pPr>
            </a:p>
            <a:p>
              <a:pPr algn="l" marL="359929" indent="-179964" lvl="1">
                <a:lnSpc>
                  <a:spcPts val="2333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Major drops:</a:t>
              </a:r>
            </a:p>
            <a:p>
              <a:pPr algn="l" marL="1079786" indent="-269946" lvl="3">
                <a:lnSpc>
                  <a:spcPts val="2333"/>
                </a:lnSpc>
                <a:buFont typeface="Arial"/>
                <a:buChar char="￭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2009 financial crisis</a:t>
              </a:r>
            </a:p>
            <a:p>
              <a:pPr algn="l" marL="1079786" indent="-269946" lvl="3">
                <a:lnSpc>
                  <a:spcPts val="2333"/>
                </a:lnSpc>
                <a:buFont typeface="Arial"/>
                <a:buChar char="￭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2014 Crimean crisis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350" y="2173695"/>
              <a:ext cx="1105629" cy="1043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27"/>
                </a:lnSpc>
              </a:pPr>
              <a:r>
                <a:rPr lang="en-US" sz="4677">
                  <a:solidFill>
                    <a:srgbClr val="2E2E7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18480" y="1974066"/>
              <a:ext cx="3228505" cy="420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7"/>
                </a:lnSpc>
              </a:pPr>
              <a:r>
                <a:rPr lang="en-US" sz="1944" b="true">
                  <a:solidFill>
                    <a:srgbClr val="FFB54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Long-Term Trends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18480" y="6124703"/>
              <a:ext cx="6699734" cy="1091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9928" indent="-179964" lvl="1">
                <a:lnSpc>
                  <a:spcPts val="2183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Winter → highest electricity demand</a:t>
              </a:r>
            </a:p>
            <a:p>
              <a:pPr algn="l" marL="359928" indent="-179964" lvl="1">
                <a:lnSpc>
                  <a:spcPts val="2183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Daily (hourly) peaks exist</a:t>
              </a:r>
            </a:p>
            <a:p>
              <a:pPr algn="l" marL="359928" indent="-179964" lvl="1">
                <a:lnSpc>
                  <a:spcPts val="2183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Mid-term + short-term patterns visible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618480" y="5429668"/>
              <a:ext cx="3827344" cy="420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7"/>
                </a:lnSpc>
              </a:pPr>
              <a:r>
                <a:rPr lang="en-US" sz="1944" b="tru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Seasonal Patterns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679386"/>
              <a:ext cx="1307407" cy="1036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27"/>
                </a:lnSpc>
              </a:pPr>
              <a:r>
                <a:rPr lang="en-US" sz="4677">
                  <a:solidFill>
                    <a:srgbClr val="FFB547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03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51217" y="8484630"/>
            <a:ext cx="8263112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i="true">
                <a:solidFill>
                  <a:srgbClr val="545454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Electricity demand is strongly influenced by temperature in a nonlinear “hockey-stick” pattern, with much higher usage in cold weather, since heating (5.3%) has a greater impact than cooling (1.9%).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36987" y="2315757"/>
            <a:ext cx="7091573" cy="2203528"/>
            <a:chOff x="0" y="0"/>
            <a:chExt cx="9455430" cy="2938038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421077" y="628790"/>
              <a:ext cx="8034354" cy="2309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9929" indent="-179964" lvl="1">
                <a:lnSpc>
                  <a:spcPts val="2800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Strong influence on demand</a:t>
              </a:r>
            </a:p>
            <a:p>
              <a:pPr algn="l" marL="359929" indent="-179964" lvl="1">
                <a:lnSpc>
                  <a:spcPts val="2800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Nonlinear relationship (not straight line)</a:t>
              </a:r>
            </a:p>
            <a:p>
              <a:pPr algn="l" marL="359929" indent="-179964" lvl="1">
                <a:lnSpc>
                  <a:spcPts val="2800"/>
                </a:lnSpc>
                <a:buFont typeface="Arial"/>
                <a:buChar char="•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“Hockey stick” pattern:</a:t>
              </a:r>
            </a:p>
            <a:p>
              <a:pPr algn="l" marL="719857" indent="-239952" lvl="2">
                <a:lnSpc>
                  <a:spcPts val="2800"/>
                </a:lnSpc>
                <a:buFont typeface="Arial"/>
                <a:buChar char="⚬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Very h</a:t>
              </a: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igh demand in cold weather</a:t>
              </a:r>
            </a:p>
            <a:p>
              <a:pPr algn="l" marL="719857" indent="-239952" lvl="2">
                <a:lnSpc>
                  <a:spcPts val="2800"/>
                </a:lnSpc>
                <a:buFont typeface="Arial"/>
                <a:buChar char="⚬"/>
              </a:pPr>
              <a:r>
                <a:rPr lang="en-US" sz="1667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Moderate increase in hot weather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54808"/>
              <a:ext cx="1019353" cy="1043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27"/>
                </a:lnSpc>
              </a:pPr>
              <a:r>
                <a:rPr lang="en-US" sz="4677">
                  <a:solidFill>
                    <a:srgbClr val="2E2E7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04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421077" y="-38100"/>
              <a:ext cx="3564749" cy="420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7"/>
                </a:lnSpc>
              </a:pPr>
              <a:r>
                <a:rPr lang="en-US" sz="1944" b="true">
                  <a:solidFill>
                    <a:srgbClr val="FFB54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Temperature Effect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5530559" y="1305587"/>
            <a:ext cx="949220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89185" y="-2210700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6239268" y="8230457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89185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70" y="0"/>
                </a:lnTo>
                <a:lnTo>
                  <a:pt x="2378370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13512" y="3263980"/>
            <a:ext cx="8376287" cy="3266752"/>
          </a:xfrm>
          <a:custGeom>
            <a:avLst/>
            <a:gdLst/>
            <a:ahLst/>
            <a:cxnLst/>
            <a:rect r="r" b="b" t="t" l="l"/>
            <a:pathLst>
              <a:path h="3266752" w="8376287">
                <a:moveTo>
                  <a:pt x="0" y="0"/>
                </a:moveTo>
                <a:lnTo>
                  <a:pt x="8376287" y="0"/>
                </a:lnTo>
                <a:lnTo>
                  <a:pt x="8376287" y="3266752"/>
                </a:lnTo>
                <a:lnTo>
                  <a:pt x="0" y="32667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66551"/>
            <a:ext cx="8070187" cy="79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7"/>
              </a:lnSpc>
            </a:pPr>
            <a:r>
              <a:rPr lang="en-US" sz="63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2849" y="3414503"/>
            <a:ext cx="6110806" cy="198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Electricity demand is split into </a:t>
            </a: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3 components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:</a:t>
            </a:r>
          </a:p>
          <a:p>
            <a:pPr algn="just" marL="1165865" indent="-291466" lvl="3">
              <a:lnSpc>
                <a:spcPts val="3168"/>
              </a:lnSpc>
              <a:buFont typeface="Arial"/>
              <a:buChar char="￭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Long-term (yearly trend)</a:t>
            </a:r>
          </a:p>
          <a:p>
            <a:pPr algn="just" marL="1165865" indent="-291466" lvl="3">
              <a:lnSpc>
                <a:spcPts val="3168"/>
              </a:lnSpc>
              <a:buFont typeface="Arial"/>
              <a:buChar char="￭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Medium-term (daily/seasonal)</a:t>
            </a:r>
          </a:p>
          <a:p>
            <a:pPr algn="just" marL="1165865" indent="-291466" lvl="3">
              <a:lnSpc>
                <a:spcPts val="3168"/>
              </a:lnSpc>
              <a:buFont typeface="Arial"/>
              <a:buChar char="￭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Short-term (hourly variation)</a:t>
            </a:r>
          </a:p>
          <a:p>
            <a:pPr algn="just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Additive model: combines all components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168215" y="7025102"/>
            <a:ext cx="4333440" cy="1843126"/>
            <a:chOff x="0" y="0"/>
            <a:chExt cx="5777920" cy="245750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78129"/>
              <a:ext cx="5777920" cy="1579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Tested 2¹⁸ regression models</a:t>
              </a:r>
            </a:p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Ranked using AICc</a:t>
              </a:r>
            </a:p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5-fold cross-validation</a:t>
              </a:r>
            </a:p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Filtered using RMSE and MAE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4522385" cy="4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1"/>
                </a:lnSpc>
              </a:pPr>
              <a:r>
                <a:rPr lang="en-US" sz="2100" b="tru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Model Selection Process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9193" y="5758601"/>
            <a:ext cx="6253510" cy="3919251"/>
            <a:chOff x="0" y="0"/>
            <a:chExt cx="8338013" cy="522566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758461" cy="774324"/>
              <a:chOff x="0" y="0"/>
              <a:chExt cx="742412" cy="15295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42412" cy="152953"/>
              </a:xfrm>
              <a:custGeom>
                <a:avLst/>
                <a:gdLst/>
                <a:ahLst/>
                <a:cxnLst/>
                <a:rect r="r" b="b" t="t" l="l"/>
                <a:pathLst>
                  <a:path h="152953" w="742412">
                    <a:moveTo>
                      <a:pt x="76476" y="0"/>
                    </a:moveTo>
                    <a:lnTo>
                      <a:pt x="665936" y="0"/>
                    </a:lnTo>
                    <a:cubicBezTo>
                      <a:pt x="686218" y="0"/>
                      <a:pt x="705670" y="8057"/>
                      <a:pt x="720013" y="22399"/>
                    </a:cubicBezTo>
                    <a:cubicBezTo>
                      <a:pt x="734355" y="36742"/>
                      <a:pt x="742412" y="56194"/>
                      <a:pt x="742412" y="76476"/>
                    </a:cubicBezTo>
                    <a:lnTo>
                      <a:pt x="742412" y="76476"/>
                    </a:lnTo>
                    <a:cubicBezTo>
                      <a:pt x="742412" y="118713"/>
                      <a:pt x="708172" y="152953"/>
                      <a:pt x="665936" y="152953"/>
                    </a:cubicBezTo>
                    <a:lnTo>
                      <a:pt x="76476" y="152953"/>
                    </a:lnTo>
                    <a:cubicBezTo>
                      <a:pt x="34240" y="152953"/>
                      <a:pt x="0" y="118713"/>
                      <a:pt x="0" y="76476"/>
                    </a:cubicBezTo>
                    <a:lnTo>
                      <a:pt x="0" y="76476"/>
                    </a:lnTo>
                    <a:cubicBezTo>
                      <a:pt x="0" y="34240"/>
                      <a:pt x="34240" y="0"/>
                      <a:pt x="76476" y="0"/>
                    </a:cubicBezTo>
                    <a:close/>
                  </a:path>
                </a:pathLst>
              </a:custGeom>
              <a:solidFill>
                <a:srgbClr val="0057B7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66675"/>
                <a:ext cx="742412" cy="862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8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31541" y="890396"/>
              <a:ext cx="8106472" cy="4335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8"/>
                </a:lnSpc>
              </a:pPr>
            </a:p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Predict yearly average demand</a:t>
              </a:r>
            </a:p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Based on macroeconomic factors</a:t>
              </a:r>
            </a:p>
            <a:p>
              <a:pPr algn="l" marL="1165865" indent="-291466" lvl="3">
                <a:lnSpc>
                  <a:spcPts val="2358"/>
                </a:lnSpc>
                <a:buFont typeface="Arial"/>
                <a:buChar char="￭"/>
              </a:pPr>
              <a:r>
                <a:rPr lang="en-US" sz="1800">
                  <a:solidFill>
                    <a:srgbClr val="FF751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GDP deflator</a:t>
              </a:r>
            </a:p>
            <a:p>
              <a:pPr algn="l" marL="1165865" indent="-291466" lvl="3">
                <a:lnSpc>
                  <a:spcPts val="2358"/>
                </a:lnSpc>
                <a:buFont typeface="Arial"/>
                <a:buChar char="￭"/>
              </a:pPr>
              <a:r>
                <a:rPr lang="en-US" sz="1800">
                  <a:solidFill>
                    <a:srgbClr val="FF31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Industrial value added</a:t>
              </a:r>
            </a:p>
            <a:p>
              <a:pPr algn="l" marL="1165865" indent="-291466" lvl="3">
                <a:lnSpc>
                  <a:spcPts val="2358"/>
                </a:lnSpc>
                <a:buFont typeface="Arial"/>
                <a:buChar char="￭"/>
              </a:pPr>
              <a:r>
                <a:rPr lang="en-US" sz="1800">
                  <a:solidFill>
                    <a:srgbClr val="8C52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GDP growth rate</a:t>
              </a:r>
            </a:p>
            <a:p>
              <a:pPr algn="l" marL="1165865" indent="-291466" lvl="3">
                <a:lnSpc>
                  <a:spcPts val="2358"/>
                </a:lnSpc>
                <a:buFont typeface="Arial"/>
                <a:buChar char="￭"/>
              </a:pPr>
              <a:r>
                <a:rPr lang="en-US" sz="1800">
                  <a:solidFill>
                    <a:srgbClr val="FF00E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Service sector contribution</a:t>
              </a:r>
            </a:p>
            <a:p>
              <a:pPr algn="l">
                <a:lnSpc>
                  <a:spcPts val="2358"/>
                </a:lnSpc>
              </a:pPr>
            </a:p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Uses multiple linear regression</a:t>
              </a:r>
            </a:p>
            <a:p>
              <a:pPr algn="l" marL="1165865" indent="-291466" lvl="3">
                <a:lnSpc>
                  <a:spcPts val="2358"/>
                </a:lnSpc>
                <a:buFont typeface="Arial"/>
                <a:buChar char="￭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D̄L(y) = βL,1 + βL,2 * </a:t>
              </a:r>
              <a:r>
                <a:rPr lang="en-US" sz="1800">
                  <a:solidFill>
                    <a:srgbClr val="FF751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GDP</a:t>
              </a: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δ(y) + βL,3 *</a:t>
              </a:r>
              <a:r>
                <a:rPr lang="en-US" sz="1800">
                  <a:solidFill>
                    <a:srgbClr val="FF313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IND</a:t>
              </a: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(y) + βL,4 * </a:t>
              </a:r>
              <a:r>
                <a:rPr lang="en-US" sz="1800">
                  <a:solidFill>
                    <a:srgbClr val="8C52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GRO</a:t>
              </a: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(y) + βL,5 * </a:t>
              </a:r>
              <a:r>
                <a:rPr lang="en-US" sz="1800">
                  <a:solidFill>
                    <a:srgbClr val="FF00E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SERV</a:t>
              </a: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(y) + w(y)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31541" y="140364"/>
              <a:ext cx="6087408" cy="4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1"/>
                </a:lnSpc>
              </a:pPr>
              <a:r>
                <a:rPr lang="en-US" sz="2100" b="true">
                  <a:solidFill>
                    <a:srgbClr val="FFE1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Long-Term Model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82773" y="7025102"/>
            <a:ext cx="4357364" cy="1843126"/>
            <a:chOff x="0" y="0"/>
            <a:chExt cx="5809818" cy="245750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878129"/>
              <a:ext cx="5809818" cy="1579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Residuals tested for normality (Shapiro-Wilk)</a:t>
              </a:r>
            </a:p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p-value = 0.62 → good fit</a:t>
              </a:r>
            </a:p>
            <a:p>
              <a:pPr algn="l" marL="388622" indent="-194311" lvl="1">
                <a:lnSpc>
                  <a:spcPts val="2358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Variance of noise estimated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38100"/>
              <a:ext cx="4547351" cy="4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1"/>
                </a:lnSpc>
              </a:pPr>
              <a:r>
                <a:rPr lang="en-US" sz="2100" b="tru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 Validation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865154" y="2233375"/>
            <a:ext cx="7273002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i="true">
                <a:solidFill>
                  <a:srgbClr val="545454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Macroeconomic factors strongly explain long-term electricity demand. Model is statistically valid and stable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22303" y="873455"/>
            <a:ext cx="2470161" cy="451182"/>
            <a:chOff x="0" y="0"/>
            <a:chExt cx="3293549" cy="601576"/>
          </a:xfrm>
        </p:grpSpPr>
        <p:sp>
          <p:nvSpPr>
            <p:cNvPr name="AutoShape 23" id="23"/>
            <p:cNvSpPr/>
            <p:nvPr/>
          </p:nvSpPr>
          <p:spPr>
            <a:xfrm>
              <a:off x="1013961" y="576176"/>
              <a:ext cx="1265626" cy="0"/>
            </a:xfrm>
            <a:prstGeom prst="line">
              <a:avLst/>
            </a:prstGeom>
            <a:ln cap="flat" w="50800">
              <a:solidFill>
                <a:srgbClr val="FFE11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66675"/>
              <a:ext cx="3293549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Models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Results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89185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70" y="0"/>
                </a:lnTo>
                <a:lnTo>
                  <a:pt x="2378370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37709" y="-4879561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9193" y="6271578"/>
            <a:ext cx="6945463" cy="2647958"/>
          </a:xfrm>
          <a:custGeom>
            <a:avLst/>
            <a:gdLst/>
            <a:ahLst/>
            <a:cxnLst/>
            <a:rect r="r" b="b" t="t" l="l"/>
            <a:pathLst>
              <a:path h="2647958" w="6945463">
                <a:moveTo>
                  <a:pt x="0" y="0"/>
                </a:moveTo>
                <a:lnTo>
                  <a:pt x="6945462" y="0"/>
                </a:lnTo>
                <a:lnTo>
                  <a:pt x="6945462" y="2647958"/>
                </a:lnTo>
                <a:lnTo>
                  <a:pt x="0" y="2647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359193" y="2057400"/>
            <a:ext cx="6253510" cy="3783615"/>
            <a:chOff x="0" y="0"/>
            <a:chExt cx="8338013" cy="504482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758461" cy="774324"/>
              <a:chOff x="0" y="0"/>
              <a:chExt cx="742412" cy="15295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42412" cy="152953"/>
              </a:xfrm>
              <a:custGeom>
                <a:avLst/>
                <a:gdLst/>
                <a:ahLst/>
                <a:cxnLst/>
                <a:rect r="r" b="b" t="t" l="l"/>
                <a:pathLst>
                  <a:path h="152953" w="742412">
                    <a:moveTo>
                      <a:pt x="76476" y="0"/>
                    </a:moveTo>
                    <a:lnTo>
                      <a:pt x="665936" y="0"/>
                    </a:lnTo>
                    <a:cubicBezTo>
                      <a:pt x="686218" y="0"/>
                      <a:pt x="705670" y="8057"/>
                      <a:pt x="720013" y="22399"/>
                    </a:cubicBezTo>
                    <a:cubicBezTo>
                      <a:pt x="734355" y="36742"/>
                      <a:pt x="742412" y="56194"/>
                      <a:pt x="742412" y="76476"/>
                    </a:cubicBezTo>
                    <a:lnTo>
                      <a:pt x="742412" y="76476"/>
                    </a:lnTo>
                    <a:cubicBezTo>
                      <a:pt x="742412" y="118713"/>
                      <a:pt x="708172" y="152953"/>
                      <a:pt x="665936" y="152953"/>
                    </a:cubicBezTo>
                    <a:lnTo>
                      <a:pt x="76476" y="152953"/>
                    </a:lnTo>
                    <a:cubicBezTo>
                      <a:pt x="34240" y="152953"/>
                      <a:pt x="0" y="118713"/>
                      <a:pt x="0" y="76476"/>
                    </a:cubicBezTo>
                    <a:lnTo>
                      <a:pt x="0" y="76476"/>
                    </a:lnTo>
                    <a:cubicBezTo>
                      <a:pt x="0" y="34240"/>
                      <a:pt x="34240" y="0"/>
                      <a:pt x="76476" y="0"/>
                    </a:cubicBezTo>
                    <a:close/>
                  </a:path>
                </a:pathLst>
              </a:custGeom>
              <a:solidFill>
                <a:srgbClr val="0057B7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66675"/>
                <a:ext cx="742412" cy="862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8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02833" y="140020"/>
              <a:ext cx="3152795" cy="4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1"/>
                </a:lnSpc>
              </a:pPr>
              <a:r>
                <a:rPr lang="en-US" sz="2100" b="true">
                  <a:solidFill>
                    <a:srgbClr val="FFE1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Mid-Term Model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42771"/>
              <a:ext cx="8338013" cy="4202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6"/>
                </a:lnSpc>
              </a:pPr>
            </a:p>
            <a:p>
              <a:pPr algn="l">
                <a:lnSpc>
                  <a:spcPts val="2826"/>
                </a:lnSpc>
              </a:pPr>
              <a:r>
                <a:rPr lang="en-US" sz="18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First, modeled using a linear regression (LM) with </a:t>
              </a:r>
            </a:p>
            <a:p>
              <a:pPr algn="l" marL="1165865" indent="-291466" lvl="3">
                <a:lnSpc>
                  <a:spcPts val="2826"/>
                </a:lnSpc>
                <a:buFont typeface="Arial"/>
                <a:buChar char="￭"/>
              </a:pPr>
              <a:r>
                <a:rPr lang="en-US" sz="18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Temperature, </a:t>
              </a:r>
            </a:p>
            <a:p>
              <a:pPr algn="l" marL="1165865" indent="-291466" lvl="3">
                <a:lnSpc>
                  <a:spcPts val="2826"/>
                </a:lnSpc>
                <a:buFont typeface="Arial"/>
                <a:buChar char="￭"/>
              </a:pPr>
              <a:r>
                <a:rPr lang="en-US" sz="18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8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easonality, </a:t>
              </a:r>
            </a:p>
            <a:p>
              <a:pPr algn="l" marL="1165865" indent="-291466" lvl="3">
                <a:lnSpc>
                  <a:spcPts val="2826"/>
                </a:lnSpc>
                <a:buFont typeface="Arial"/>
                <a:buChar char="￭"/>
              </a:pPr>
              <a:r>
                <a:rPr lang="en-US" sz="18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H</a:t>
              </a:r>
              <a:r>
                <a:rPr lang="en-US" sz="18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olidays, and </a:t>
              </a:r>
            </a:p>
            <a:p>
              <a:pPr algn="l" marL="1165865" indent="-291466" lvl="3">
                <a:lnSpc>
                  <a:spcPts val="2826"/>
                </a:lnSpc>
                <a:buFont typeface="Arial"/>
                <a:buChar char="￭"/>
              </a:pPr>
              <a:r>
                <a:rPr lang="en-US" sz="18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18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ag effects</a:t>
              </a:r>
            </a:p>
            <a:p>
              <a:pPr algn="l">
                <a:lnSpc>
                  <a:spcPts val="2826"/>
                </a:lnSpc>
              </a:pPr>
            </a:p>
            <a:p>
              <a:pPr algn="ctr">
                <a:lnSpc>
                  <a:spcPts val="2826"/>
                </a:lnSpc>
              </a:pPr>
              <a:r>
                <a:rPr lang="en-US" sz="18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Remaining errors (residuals) still contain structure → Modeled separately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44000" y="3787904"/>
            <a:ext cx="6881409" cy="3070829"/>
          </a:xfrm>
          <a:custGeom>
            <a:avLst/>
            <a:gdLst/>
            <a:ahLst/>
            <a:cxnLst/>
            <a:rect r="r" b="b" t="t" l="l"/>
            <a:pathLst>
              <a:path h="3070829" w="6881409">
                <a:moveTo>
                  <a:pt x="0" y="0"/>
                </a:moveTo>
                <a:lnTo>
                  <a:pt x="6881409" y="0"/>
                </a:lnTo>
                <a:lnTo>
                  <a:pt x="6881409" y="3070828"/>
                </a:lnTo>
                <a:lnTo>
                  <a:pt x="0" y="30708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Results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2882773" y="1305587"/>
            <a:ext cx="949220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1979703"/>
            <a:ext cx="4840518" cy="127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approaches are used for residuals: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7258376"/>
            <a:ext cx="7163439" cy="166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3330"/>
              </a:lnSpc>
              <a:buFont typeface="Arial"/>
              <a:buChar char="•"/>
            </a:pP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ARIMA(30,1,25) 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→ captures linear autocorrelation patterns</a:t>
            </a:r>
          </a:p>
          <a:p>
            <a:pPr algn="l" marL="388622" indent="-194311" lvl="1">
              <a:lnSpc>
                <a:spcPts val="3330"/>
              </a:lnSpc>
              <a:buFont typeface="Arial"/>
              <a:buChar char="•"/>
            </a:pPr>
            <a:r>
              <a:rPr lang="en-US" b="true" sz="1800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LSTM 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(Seq2Seq + attention) → captures nonlinear and long-term dependencies</a:t>
            </a:r>
          </a:p>
          <a:p>
            <a:pPr algn="l" marL="388622" indent="-194311" lvl="1">
              <a:lnSpc>
                <a:spcPts val="3330"/>
              </a:lnSpc>
              <a:buFont typeface="Arial"/>
              <a:buChar char="•"/>
            </a:pPr>
            <a:r>
              <a:rPr lang="en-US" sz="1800" u="sng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Final step combines both into a hybrid model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55467" y="-1398162"/>
            <a:ext cx="9906151" cy="7417732"/>
            <a:chOff x="0" y="0"/>
            <a:chExt cx="13208202" cy="98903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17892" y="0"/>
              <a:ext cx="9890310" cy="9890310"/>
            </a:xfrm>
            <a:custGeom>
              <a:avLst/>
              <a:gdLst/>
              <a:ahLst/>
              <a:cxnLst/>
              <a:rect r="r" b="b" t="t" l="l"/>
              <a:pathLst>
                <a:path h="9890310" w="9890310">
                  <a:moveTo>
                    <a:pt x="0" y="0"/>
                  </a:moveTo>
                  <a:lnTo>
                    <a:pt x="9890310" y="0"/>
                  </a:lnTo>
                  <a:lnTo>
                    <a:pt x="9890310" y="9890310"/>
                  </a:lnTo>
                  <a:lnTo>
                    <a:pt x="0" y="9890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7111563" y="3095497"/>
              <a:ext cx="3293549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Results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555781" y="3095497"/>
              <a:ext cx="3293549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Models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095497"/>
              <a:ext cx="3293549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Home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15530559" y="1305587"/>
            <a:ext cx="949220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799009" y="4553737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 flipV="true">
            <a:off x="8069745" y="6415360"/>
            <a:ext cx="0" cy="27067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0" y="92583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67560" y="2040951"/>
            <a:ext cx="1037079" cy="996892"/>
          </a:xfrm>
          <a:custGeom>
            <a:avLst/>
            <a:gdLst/>
            <a:ahLst/>
            <a:cxnLst/>
            <a:rect r="r" b="b" t="t" l="l"/>
            <a:pathLst>
              <a:path h="996892" w="1037079">
                <a:moveTo>
                  <a:pt x="0" y="0"/>
                </a:moveTo>
                <a:lnTo>
                  <a:pt x="1037079" y="0"/>
                </a:lnTo>
                <a:lnTo>
                  <a:pt x="1037079" y="996892"/>
                </a:lnTo>
                <a:lnTo>
                  <a:pt x="0" y="99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50254" y="6415360"/>
            <a:ext cx="7629525" cy="2479073"/>
          </a:xfrm>
          <a:custGeom>
            <a:avLst/>
            <a:gdLst/>
            <a:ahLst/>
            <a:cxnLst/>
            <a:rect r="r" b="b" t="t" l="l"/>
            <a:pathLst>
              <a:path h="2479073" w="7629525">
                <a:moveTo>
                  <a:pt x="0" y="0"/>
                </a:moveTo>
                <a:lnTo>
                  <a:pt x="7629525" y="0"/>
                </a:lnTo>
                <a:lnTo>
                  <a:pt x="7629525" y="2479074"/>
                </a:lnTo>
                <a:lnTo>
                  <a:pt x="0" y="24790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700" r="-362" b="-8809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039676" y="8086586"/>
            <a:ext cx="924617" cy="447284"/>
          </a:xfrm>
          <a:custGeom>
            <a:avLst/>
            <a:gdLst/>
            <a:ahLst/>
            <a:cxnLst/>
            <a:rect r="r" b="b" t="t" l="l"/>
            <a:pathLst>
              <a:path h="447284" w="924617">
                <a:moveTo>
                  <a:pt x="0" y="0"/>
                </a:moveTo>
                <a:lnTo>
                  <a:pt x="924617" y="0"/>
                </a:lnTo>
                <a:lnTo>
                  <a:pt x="924617" y="447284"/>
                </a:lnTo>
                <a:lnTo>
                  <a:pt x="0" y="4472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66066" y="2058267"/>
            <a:ext cx="10701494" cy="9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Hybrid Model Results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36342" y="3524333"/>
            <a:ext cx="12215315" cy="1132677"/>
            <a:chOff x="0" y="0"/>
            <a:chExt cx="16287087" cy="151023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55923" y="0"/>
              <a:ext cx="15926554" cy="1510236"/>
              <a:chOff x="0" y="0"/>
              <a:chExt cx="3145986" cy="29831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145986" cy="298318"/>
              </a:xfrm>
              <a:custGeom>
                <a:avLst/>
                <a:gdLst/>
                <a:ahLst/>
                <a:cxnLst/>
                <a:rect r="r" b="b" t="t" l="l"/>
                <a:pathLst>
                  <a:path h="298318" w="3145986">
                    <a:moveTo>
                      <a:pt x="33055" y="0"/>
                    </a:moveTo>
                    <a:lnTo>
                      <a:pt x="3112931" y="0"/>
                    </a:lnTo>
                    <a:cubicBezTo>
                      <a:pt x="3121698" y="0"/>
                      <a:pt x="3130105" y="3483"/>
                      <a:pt x="3136304" y="9682"/>
                    </a:cubicBezTo>
                    <a:cubicBezTo>
                      <a:pt x="3142504" y="15881"/>
                      <a:pt x="3145986" y="24288"/>
                      <a:pt x="3145986" y="33055"/>
                    </a:cubicBezTo>
                    <a:lnTo>
                      <a:pt x="3145986" y="265263"/>
                    </a:lnTo>
                    <a:cubicBezTo>
                      <a:pt x="3145986" y="274030"/>
                      <a:pt x="3142504" y="282438"/>
                      <a:pt x="3136304" y="288637"/>
                    </a:cubicBezTo>
                    <a:cubicBezTo>
                      <a:pt x="3130105" y="294836"/>
                      <a:pt x="3121698" y="298318"/>
                      <a:pt x="3112931" y="298318"/>
                    </a:cubicBezTo>
                    <a:lnTo>
                      <a:pt x="33055" y="298318"/>
                    </a:lnTo>
                    <a:cubicBezTo>
                      <a:pt x="24288" y="298318"/>
                      <a:pt x="15881" y="294836"/>
                      <a:pt x="9682" y="288637"/>
                    </a:cubicBezTo>
                    <a:cubicBezTo>
                      <a:pt x="3483" y="282438"/>
                      <a:pt x="0" y="274030"/>
                      <a:pt x="0" y="265263"/>
                    </a:cubicBezTo>
                    <a:lnTo>
                      <a:pt x="0" y="33055"/>
                    </a:lnTo>
                    <a:cubicBezTo>
                      <a:pt x="0" y="24288"/>
                      <a:pt x="3483" y="15881"/>
                      <a:pt x="9682" y="9682"/>
                    </a:cubicBezTo>
                    <a:cubicBezTo>
                      <a:pt x="15881" y="3483"/>
                      <a:pt x="24288" y="0"/>
                      <a:pt x="33055" y="0"/>
                    </a:cubicBezTo>
                    <a:close/>
                  </a:path>
                </a:pathLst>
              </a:custGeom>
              <a:solidFill>
                <a:srgbClr val="0057B7"/>
              </a:solidFill>
              <a:ln w="9525" cap="rnd">
                <a:solidFill>
                  <a:srgbClr val="000000"/>
                </a:solidFill>
                <a:prstDash val="sysDot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66675"/>
                <a:ext cx="3145986" cy="2316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8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400712"/>
              <a:ext cx="16287087" cy="614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7"/>
                </a:lnSpc>
              </a:pPr>
              <a:r>
                <a:rPr lang="en-US" b="true" sz="27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LSTM-based hybrid model gives the best forecasting accuracy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917922" y="6481096"/>
            <a:ext cx="3766101" cy="2443644"/>
            <a:chOff x="0" y="0"/>
            <a:chExt cx="5021468" cy="325819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222661"/>
              <a:ext cx="4288950" cy="2035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3639" indent="-251820" lvl="1">
                <a:lnSpc>
                  <a:spcPts val="3055"/>
                </a:lnSpc>
                <a:buFont typeface="Arial"/>
                <a:buChar char="•"/>
              </a:pPr>
              <a:r>
                <a:rPr lang="en-US" sz="2332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LM</a:t>
              </a:r>
            </a:p>
            <a:p>
              <a:pPr algn="l" marL="503639" indent="-251820" lvl="1">
                <a:lnSpc>
                  <a:spcPts val="3055"/>
                </a:lnSpc>
                <a:buFont typeface="Arial"/>
                <a:buChar char="•"/>
              </a:pPr>
              <a:r>
                <a:rPr lang="en-US" sz="2332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LM</a:t>
              </a:r>
              <a:r>
                <a:rPr lang="en-US" sz="2332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+ ARIMA</a:t>
              </a:r>
            </a:p>
            <a:p>
              <a:pPr algn="l" marL="503639" indent="-251820" lvl="1">
                <a:lnSpc>
                  <a:spcPts val="3055"/>
                </a:lnSpc>
                <a:buFont typeface="Arial"/>
                <a:buChar char="•"/>
              </a:pPr>
              <a:r>
                <a:rPr lang="en-US" sz="2332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LM + LSTM ✅</a:t>
              </a:r>
            </a:p>
            <a:p>
              <a:pPr algn="l" marL="503639" indent="-251820" lvl="1">
                <a:lnSpc>
                  <a:spcPts val="3055"/>
                </a:lnSpc>
                <a:buFont typeface="Arial"/>
                <a:buChar char="•"/>
              </a:pPr>
              <a:r>
                <a:rPr lang="en-US" sz="2332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LM + ARIMA + LSTM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47625"/>
              <a:ext cx="5021468" cy="523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145"/>
                </a:lnSpc>
              </a:pPr>
              <a:r>
                <a:rPr lang="en-US" sz="2401" b="tru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Tested combinations: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403099" y="5048250"/>
            <a:ext cx="7481802" cy="737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2"/>
              </a:lnSpc>
            </a:pPr>
            <a:r>
              <a:rPr lang="en-US" b="true" sz="1800" i="true">
                <a:solidFill>
                  <a:srgbClr val="54545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We first model the main trend using regression, then improve accuracy by modeling residuals using ARIMA and LSTM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55467" y="-1398162"/>
            <a:ext cx="9906151" cy="7417732"/>
            <a:chOff x="0" y="0"/>
            <a:chExt cx="13208202" cy="98903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317892" y="0"/>
              <a:ext cx="9890310" cy="9890310"/>
            </a:xfrm>
            <a:custGeom>
              <a:avLst/>
              <a:gdLst/>
              <a:ahLst/>
              <a:cxnLst/>
              <a:rect r="r" b="b" t="t" l="l"/>
              <a:pathLst>
                <a:path h="9890310" w="9890310">
                  <a:moveTo>
                    <a:pt x="0" y="0"/>
                  </a:moveTo>
                  <a:lnTo>
                    <a:pt x="9890310" y="0"/>
                  </a:lnTo>
                  <a:lnTo>
                    <a:pt x="9890310" y="9890310"/>
                  </a:lnTo>
                  <a:lnTo>
                    <a:pt x="0" y="9890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7111563" y="3095497"/>
              <a:ext cx="3293549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Results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555781" y="3095497"/>
              <a:ext cx="3293549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Models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095497"/>
              <a:ext cx="3293549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Home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65611" y="3362035"/>
            <a:ext cx="7665159" cy="5315071"/>
            <a:chOff x="0" y="0"/>
            <a:chExt cx="10220211" cy="70867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468116"/>
              <a:ext cx="1076992" cy="1074299"/>
            </a:xfrm>
            <a:custGeom>
              <a:avLst/>
              <a:gdLst/>
              <a:ahLst/>
              <a:cxnLst/>
              <a:rect r="r" b="b" t="t" l="l"/>
              <a:pathLst>
                <a:path h="1074299" w="1076992">
                  <a:moveTo>
                    <a:pt x="0" y="0"/>
                  </a:moveTo>
                  <a:lnTo>
                    <a:pt x="1076992" y="0"/>
                  </a:lnTo>
                  <a:lnTo>
                    <a:pt x="1076992" y="1074300"/>
                  </a:lnTo>
                  <a:lnTo>
                    <a:pt x="0" y="107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571922" y="710184"/>
              <a:ext cx="8648289" cy="3630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772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Linear regression:</a:t>
              </a:r>
            </a:p>
            <a:p>
              <a:pPr algn="l" marL="777243" indent="-259081" lvl="2">
                <a:lnSpc>
                  <a:spcPts val="2772"/>
                </a:lnSpc>
                <a:buFont typeface="Arial"/>
                <a:buChar char="⚬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Hour-of-day (ToH) dummy variables</a:t>
              </a:r>
            </a:p>
            <a:p>
              <a:pPr algn="l" marL="777243" indent="-259081" lvl="2">
                <a:lnSpc>
                  <a:spcPts val="2772"/>
                </a:lnSpc>
                <a:buFont typeface="Arial"/>
                <a:buChar char="⚬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Separate models for each month &amp; weekday</a:t>
              </a:r>
            </a:p>
            <a:p>
              <a:pPr algn="l">
                <a:lnSpc>
                  <a:spcPts val="2772"/>
                </a:lnSpc>
              </a:pPr>
            </a:p>
            <a:p>
              <a:pPr algn="l" marL="388622" indent="-194311" lvl="1">
                <a:lnSpc>
                  <a:spcPts val="2772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Residual modeling:</a:t>
              </a:r>
            </a:p>
            <a:p>
              <a:pPr algn="l" marL="777243" indent="-259081" lvl="2">
                <a:lnSpc>
                  <a:spcPts val="2772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54545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ARMA models </a:t>
              </a: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(stationary data)</a:t>
              </a:r>
            </a:p>
            <a:p>
              <a:pPr algn="l" marL="777243" indent="-259081" lvl="2">
                <a:lnSpc>
                  <a:spcPts val="2772"/>
                </a:lnSpc>
                <a:buFont typeface="Arial"/>
                <a:buChar char="⚬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Captures short-term dependencies</a:t>
              </a:r>
            </a:p>
            <a:p>
              <a:pPr algn="l" marL="777243" indent="-259081" lvl="2">
                <a:lnSpc>
                  <a:spcPts val="2772"/>
                </a:lnSpc>
                <a:buFont typeface="Arial"/>
                <a:buChar char="⚬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Works well due to strong daily cycles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571922" y="-38100"/>
              <a:ext cx="4029633" cy="4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1"/>
                </a:lnSpc>
              </a:pPr>
              <a:r>
                <a:rPr lang="en-US" sz="2100" b="tru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 Structure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5469270"/>
              <a:ext cx="1076992" cy="809090"/>
            </a:xfrm>
            <a:custGeom>
              <a:avLst/>
              <a:gdLst/>
              <a:ahLst/>
              <a:cxnLst/>
              <a:rect r="r" b="b" t="t" l="l"/>
              <a:pathLst>
                <a:path h="809090" w="1076992">
                  <a:moveTo>
                    <a:pt x="0" y="0"/>
                  </a:moveTo>
                  <a:lnTo>
                    <a:pt x="1076992" y="0"/>
                  </a:lnTo>
                  <a:lnTo>
                    <a:pt x="1076992" y="809090"/>
                  </a:lnTo>
                  <a:lnTo>
                    <a:pt x="0" y="809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571922" y="5442747"/>
              <a:ext cx="7796020" cy="1644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3420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Hourly demand is highly repetitive</a:t>
              </a:r>
            </a:p>
            <a:p>
              <a:pPr algn="l" marL="388622" indent="-194311" lvl="1">
                <a:lnSpc>
                  <a:spcPts val="3420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Simple models (Regression + ARMA) are enough</a:t>
              </a:r>
            </a:p>
            <a:p>
              <a:pPr algn="l" marL="388622" indent="-194311" lvl="1">
                <a:lnSpc>
                  <a:spcPts val="3420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No need for complex ML like LSTM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71922" y="4761138"/>
              <a:ext cx="4029633" cy="4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1"/>
                </a:lnSpc>
              </a:pPr>
              <a:r>
                <a:rPr lang="en-US" sz="2100" b="true">
                  <a:solidFill>
                    <a:srgbClr val="FFB54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 Analytics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63449" y="1854168"/>
            <a:ext cx="3048518" cy="847086"/>
            <a:chOff x="0" y="0"/>
            <a:chExt cx="4064691" cy="112944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064691" cy="1129447"/>
              <a:chOff x="0" y="0"/>
              <a:chExt cx="802902" cy="22310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02902" cy="223101"/>
              </a:xfrm>
              <a:custGeom>
                <a:avLst/>
                <a:gdLst/>
                <a:ahLst/>
                <a:cxnLst/>
                <a:rect r="r" b="b" t="t" l="l"/>
                <a:pathLst>
                  <a:path h="223101" w="802902">
                    <a:moveTo>
                      <a:pt x="111550" y="0"/>
                    </a:moveTo>
                    <a:lnTo>
                      <a:pt x="691352" y="0"/>
                    </a:lnTo>
                    <a:cubicBezTo>
                      <a:pt x="720937" y="0"/>
                      <a:pt x="749310" y="11753"/>
                      <a:pt x="770230" y="32672"/>
                    </a:cubicBezTo>
                    <a:cubicBezTo>
                      <a:pt x="791149" y="53592"/>
                      <a:pt x="802902" y="81965"/>
                      <a:pt x="802902" y="111550"/>
                    </a:cubicBezTo>
                    <a:lnTo>
                      <a:pt x="802902" y="111550"/>
                    </a:lnTo>
                    <a:cubicBezTo>
                      <a:pt x="802902" y="141135"/>
                      <a:pt x="791149" y="169509"/>
                      <a:pt x="770230" y="190428"/>
                    </a:cubicBezTo>
                    <a:cubicBezTo>
                      <a:pt x="749310" y="211348"/>
                      <a:pt x="720937" y="223101"/>
                      <a:pt x="691352" y="223101"/>
                    </a:cubicBezTo>
                    <a:lnTo>
                      <a:pt x="111550" y="223101"/>
                    </a:lnTo>
                    <a:cubicBezTo>
                      <a:pt x="81965" y="223101"/>
                      <a:pt x="53592" y="211348"/>
                      <a:pt x="32672" y="190428"/>
                    </a:cubicBezTo>
                    <a:cubicBezTo>
                      <a:pt x="11753" y="169509"/>
                      <a:pt x="0" y="141135"/>
                      <a:pt x="0" y="111550"/>
                    </a:cubicBezTo>
                    <a:lnTo>
                      <a:pt x="0" y="111550"/>
                    </a:lnTo>
                    <a:cubicBezTo>
                      <a:pt x="0" y="81965"/>
                      <a:pt x="11753" y="53592"/>
                      <a:pt x="32672" y="32672"/>
                    </a:cubicBezTo>
                    <a:cubicBezTo>
                      <a:pt x="53592" y="11753"/>
                      <a:pt x="81965" y="0"/>
                      <a:pt x="111550" y="0"/>
                    </a:cubicBezTo>
                    <a:close/>
                  </a:path>
                </a:pathLst>
              </a:custGeom>
              <a:solidFill>
                <a:srgbClr val="0057B7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66675"/>
                <a:ext cx="802902" cy="1564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8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55570" y="292420"/>
              <a:ext cx="3455628" cy="4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1"/>
                </a:lnSpc>
              </a:pPr>
              <a:r>
                <a:rPr lang="en-US" sz="2100" b="true">
                  <a:solidFill>
                    <a:srgbClr val="FFE11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Short-Term Model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827431" y="6319722"/>
            <a:ext cx="7289491" cy="2629631"/>
          </a:xfrm>
          <a:custGeom>
            <a:avLst/>
            <a:gdLst/>
            <a:ahLst/>
            <a:cxnLst/>
            <a:rect r="r" b="b" t="t" l="l"/>
            <a:pathLst>
              <a:path h="2629631" w="7289491">
                <a:moveTo>
                  <a:pt x="0" y="0"/>
                </a:moveTo>
                <a:lnTo>
                  <a:pt x="7289491" y="0"/>
                </a:lnTo>
                <a:lnTo>
                  <a:pt x="7289491" y="2629630"/>
                </a:lnTo>
                <a:lnTo>
                  <a:pt x="0" y="2629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1478841" y="3344984"/>
            <a:ext cx="7986670" cy="1234390"/>
            <a:chOff x="0" y="0"/>
            <a:chExt cx="10648893" cy="16458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564194"/>
              <a:ext cx="1076992" cy="932944"/>
            </a:xfrm>
            <a:custGeom>
              <a:avLst/>
              <a:gdLst/>
              <a:ahLst/>
              <a:cxnLst/>
              <a:rect r="r" b="b" t="t" l="l"/>
              <a:pathLst>
                <a:path h="932944" w="1076992">
                  <a:moveTo>
                    <a:pt x="0" y="0"/>
                  </a:moveTo>
                  <a:lnTo>
                    <a:pt x="1076992" y="0"/>
                  </a:lnTo>
                  <a:lnTo>
                    <a:pt x="1076992" y="932944"/>
                  </a:lnTo>
                  <a:lnTo>
                    <a:pt x="0" y="932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571922" y="694116"/>
              <a:ext cx="9076971" cy="951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2" indent="-194311" lvl="1">
                <a:lnSpc>
                  <a:spcPts val="2952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Focus: hourly demand variation within a day</a:t>
              </a:r>
            </a:p>
            <a:p>
              <a:pPr algn="l" marL="388622" indent="-194311" lvl="1">
                <a:lnSpc>
                  <a:spcPts val="2952"/>
                </a:lnSpc>
                <a:buFont typeface="Arial"/>
                <a:buChar char="•"/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Remove </a:t>
              </a:r>
              <a:r>
                <a:rPr lang="en-US" b="true" sz="1800">
                  <a:solidFill>
                    <a:srgbClr val="FF737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long + medium effects</a:t>
              </a: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→ isolate </a:t>
              </a:r>
              <a:r>
                <a:rPr lang="en-US" b="true" sz="1800">
                  <a:solidFill>
                    <a:srgbClr val="82D03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daily pattern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571922" y="-38100"/>
              <a:ext cx="4029633" cy="4561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51"/>
                </a:lnSpc>
              </a:pPr>
              <a:r>
                <a:rPr lang="en-US" sz="2100" b="true">
                  <a:solidFill>
                    <a:srgbClr val="FFB54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Hourly Patterns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78841" y="4881003"/>
            <a:ext cx="7893165" cy="791019"/>
            <a:chOff x="0" y="0"/>
            <a:chExt cx="10524219" cy="10546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363551"/>
              <a:ext cx="10220211" cy="585179"/>
            </a:xfrm>
            <a:custGeom>
              <a:avLst/>
              <a:gdLst/>
              <a:ahLst/>
              <a:cxnLst/>
              <a:rect r="r" b="b" t="t" l="l"/>
              <a:pathLst>
                <a:path h="585179" w="10220211">
                  <a:moveTo>
                    <a:pt x="0" y="0"/>
                  </a:moveTo>
                  <a:lnTo>
                    <a:pt x="10220211" y="0"/>
                  </a:lnTo>
                  <a:lnTo>
                    <a:pt x="10220211" y="585178"/>
                  </a:lnTo>
                  <a:lnTo>
                    <a:pt x="0" y="585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7353257" y="289928"/>
              <a:ext cx="1374856" cy="764764"/>
            </a:xfrm>
            <a:custGeom>
              <a:avLst/>
              <a:gdLst/>
              <a:ahLst/>
              <a:cxnLst/>
              <a:rect r="r" b="b" t="t" l="l"/>
              <a:pathLst>
                <a:path h="764764" w="1374856">
                  <a:moveTo>
                    <a:pt x="0" y="0"/>
                  </a:moveTo>
                  <a:lnTo>
                    <a:pt x="1374856" y="0"/>
                  </a:lnTo>
                  <a:lnTo>
                    <a:pt x="1374856" y="764764"/>
                  </a:lnTo>
                  <a:lnTo>
                    <a:pt x="0" y="764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43999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095747" y="273758"/>
              <a:ext cx="1374856" cy="764764"/>
            </a:xfrm>
            <a:custGeom>
              <a:avLst/>
              <a:gdLst/>
              <a:ahLst/>
              <a:cxnLst/>
              <a:rect r="r" b="b" t="t" l="l"/>
              <a:pathLst>
                <a:path h="764764" w="1374856">
                  <a:moveTo>
                    <a:pt x="0" y="0"/>
                  </a:moveTo>
                  <a:lnTo>
                    <a:pt x="1374856" y="0"/>
                  </a:lnTo>
                  <a:lnTo>
                    <a:pt x="1374856" y="764764"/>
                  </a:lnTo>
                  <a:lnTo>
                    <a:pt x="0" y="764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43999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8298909" y="98738"/>
              <a:ext cx="429204" cy="382382"/>
            </a:xfrm>
            <a:custGeom>
              <a:avLst/>
              <a:gdLst/>
              <a:ahLst/>
              <a:cxnLst/>
              <a:rect r="r" b="b" t="t" l="l"/>
              <a:pathLst>
                <a:path h="382382" w="429204">
                  <a:moveTo>
                    <a:pt x="0" y="0"/>
                  </a:moveTo>
                  <a:lnTo>
                    <a:pt x="429204" y="0"/>
                  </a:lnTo>
                  <a:lnTo>
                    <a:pt x="429204" y="382381"/>
                  </a:lnTo>
                  <a:lnTo>
                    <a:pt x="0" y="38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56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0095015" y="98738"/>
              <a:ext cx="429204" cy="382382"/>
            </a:xfrm>
            <a:custGeom>
              <a:avLst/>
              <a:gdLst/>
              <a:ahLst/>
              <a:cxnLst/>
              <a:rect r="r" b="b" t="t" l="l"/>
              <a:pathLst>
                <a:path h="382382" w="429204">
                  <a:moveTo>
                    <a:pt x="0" y="0"/>
                  </a:moveTo>
                  <a:lnTo>
                    <a:pt x="429204" y="0"/>
                  </a:lnTo>
                  <a:lnTo>
                    <a:pt x="429204" y="382381"/>
                  </a:lnTo>
                  <a:lnTo>
                    <a:pt x="0" y="382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56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396894" y="0"/>
              <a:ext cx="393965" cy="388951"/>
            </a:xfrm>
            <a:custGeom>
              <a:avLst/>
              <a:gdLst/>
              <a:ahLst/>
              <a:cxnLst/>
              <a:rect r="r" b="b" t="t" l="l"/>
              <a:pathLst>
                <a:path h="388951" w="393965">
                  <a:moveTo>
                    <a:pt x="0" y="0"/>
                  </a:moveTo>
                  <a:lnTo>
                    <a:pt x="393965" y="0"/>
                  </a:lnTo>
                  <a:lnTo>
                    <a:pt x="393965" y="388951"/>
                  </a:lnTo>
                  <a:lnTo>
                    <a:pt x="0" y="388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117523" y="289928"/>
              <a:ext cx="1393671" cy="658801"/>
            </a:xfrm>
            <a:custGeom>
              <a:avLst/>
              <a:gdLst/>
              <a:ahLst/>
              <a:cxnLst/>
              <a:rect r="r" b="b" t="t" l="l"/>
              <a:pathLst>
                <a:path h="658801" w="1393671">
                  <a:moveTo>
                    <a:pt x="0" y="0"/>
                  </a:moveTo>
                  <a:lnTo>
                    <a:pt x="1393671" y="0"/>
                  </a:lnTo>
                  <a:lnTo>
                    <a:pt x="1393671" y="658801"/>
                  </a:lnTo>
                  <a:lnTo>
                    <a:pt x="0" y="658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alphaModFix amt="48000"/>
              </a:blip>
              <a:stretch>
                <a:fillRect l="0" t="-963" r="0" b="-963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>
            <a:off x="12882773" y="1305587"/>
            <a:ext cx="949220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9865561" y="3604704"/>
            <a:ext cx="0" cy="5653596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25628" y="-200390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882773" y="1305587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400000">
            <a:off x="17259300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92583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5670" y="2177938"/>
            <a:ext cx="8161713" cy="9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Finalized Model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9331267" y="3735373"/>
            <a:ext cx="19050" cy="55228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360055" y="4043691"/>
            <a:ext cx="5323728" cy="1999562"/>
          </a:xfrm>
          <a:custGeom>
            <a:avLst/>
            <a:gdLst/>
            <a:ahLst/>
            <a:cxnLst/>
            <a:rect r="r" b="b" t="t" l="l"/>
            <a:pathLst>
              <a:path h="1999562" w="5323728">
                <a:moveTo>
                  <a:pt x="0" y="0"/>
                </a:moveTo>
                <a:lnTo>
                  <a:pt x="5323728" y="0"/>
                </a:lnTo>
                <a:lnTo>
                  <a:pt x="5323728" y="1999562"/>
                </a:lnTo>
                <a:lnTo>
                  <a:pt x="0" y="199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359193" y="7066794"/>
            <a:ext cx="6952811" cy="160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388622" indent="-194311" lvl="1">
              <a:lnSpc>
                <a:spcPts val="4392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 on real data</a:t>
            </a:r>
          </a:p>
          <a:p>
            <a:pPr algn="r" marL="388622" indent="-194311" lvl="1">
              <a:lnSpc>
                <a:spcPts val="4392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Train model: 2013–2018</a:t>
            </a:r>
          </a:p>
          <a:p>
            <a:pPr algn="r" marL="388622" indent="-194311" lvl="1">
              <a:lnSpc>
                <a:spcPts val="4392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 model: 2019 &amp; 2020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8718" y="6489751"/>
            <a:ext cx="6952811" cy="58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24"/>
              </a:lnSpc>
            </a:pPr>
            <a:r>
              <a:rPr lang="en-US" sz="2100" b="true">
                <a:solidFill>
                  <a:srgbClr val="FFB547"/>
                </a:solidFill>
                <a:latin typeface="Poppins Bold"/>
                <a:ea typeface="Poppins Bold"/>
                <a:cs typeface="Poppins Bold"/>
                <a:sym typeface="Poppins Bold"/>
              </a:rPr>
              <a:t>Checks if the model works on unseen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9193" y="4668958"/>
            <a:ext cx="6950861" cy="1498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388622" indent="-194311" lvl="1">
              <a:lnSpc>
                <a:spcPts val="4086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Long-term (yearly trend)</a:t>
            </a:r>
          </a:p>
          <a:p>
            <a:pPr algn="r" marL="388622" indent="-194311" lvl="1">
              <a:lnSpc>
                <a:spcPts val="4086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Medium-term (daily + seasonal)</a:t>
            </a:r>
          </a:p>
          <a:p>
            <a:pPr algn="r" marL="388622" indent="-194311" lvl="1">
              <a:lnSpc>
                <a:spcPts val="4086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Short-term (hourly pattern)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55465" y="3862364"/>
            <a:ext cx="5656539" cy="53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1"/>
              </a:lnSpc>
            </a:pPr>
            <a:r>
              <a:rPr lang="en-US" sz="3199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Combine all models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59967" y="7087021"/>
            <a:ext cx="4911642" cy="160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4392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MAPE ≈ 3.17% (very accu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rate)</a:t>
            </a:r>
          </a:p>
          <a:p>
            <a:pPr algn="just" marL="388622" indent="-194311" lvl="1">
              <a:lnSpc>
                <a:spcPts val="4392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2019: 2.79%</a:t>
            </a:r>
          </a:p>
          <a:p>
            <a:pPr algn="just" marL="388622" indent="-194311" lvl="1">
              <a:lnSpc>
                <a:spcPts val="4392"/>
              </a:lnSpc>
              <a:buFont typeface="Arial"/>
              <a:buChar char="•"/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2020: 3.56%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66695" y="6509978"/>
            <a:ext cx="4911642" cy="58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24"/>
              </a:lnSpc>
            </a:pPr>
            <a:r>
              <a:rPr lang="en-US" sz="2100" b="true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98968" y="-2274232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03018" y="-175299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561937" y="-3528587"/>
            <a:ext cx="8451658" cy="845165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1002" t="0" r="-36775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455467" y="5107775"/>
            <a:ext cx="5424872" cy="1899741"/>
            <a:chOff x="0" y="0"/>
            <a:chExt cx="7233163" cy="253298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716841" y="0"/>
              <a:ext cx="2532988" cy="253298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25046" t="0" r="-25046" b="0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1266494" cy="1266494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21174" r="0" b="-21174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700175" y="0"/>
              <a:ext cx="2532988" cy="253298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24906" t="0" r="-24906" b="0"/>
                </a:stretch>
              </a:blip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64266" y="1935935"/>
            <a:ext cx="7279059" cy="79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7"/>
              </a:lnSpc>
            </a:pPr>
            <a:r>
              <a:rPr lang="en-US" sz="63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64266" y="3063949"/>
            <a:ext cx="7744584" cy="145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2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paper proposes a hybrid model for national electricity demand forecasting that combines classical statistical methods with machine learning.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05848" y="5664739"/>
            <a:ext cx="7041002" cy="2980828"/>
            <a:chOff x="0" y="0"/>
            <a:chExt cx="9388003" cy="3974437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1967101" y="1163913"/>
              <a:ext cx="6652307" cy="791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8"/>
                </a:lnSpc>
              </a:pPr>
              <a:r>
                <a:rPr lang="en-US" sz="1800" b="true">
                  <a:solidFill>
                    <a:srgbClr val="FF31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Long-term</a:t>
              </a: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is modeled using regression on macroeconomic factors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967101" y="2431694"/>
              <a:ext cx="7256203" cy="398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8"/>
                </a:lnSpc>
              </a:pPr>
              <a:r>
                <a:rPr lang="en-US" sz="1800" b="true">
                  <a:solidFill>
                    <a:srgbClr val="2E2E7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Medium-term</a:t>
              </a: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uses regression + ARIMA + LSTM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13409" y="1237869"/>
              <a:ext cx="789095" cy="63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2"/>
                </a:lnSpc>
              </a:pPr>
              <a:r>
                <a:rPr lang="en-US" sz="2894">
                  <a:solidFill>
                    <a:srgbClr val="FFB547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13409" y="2308903"/>
              <a:ext cx="789095" cy="634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2"/>
                </a:lnSpc>
              </a:pPr>
              <a:r>
                <a:rPr lang="en-US" sz="2894">
                  <a:solidFill>
                    <a:srgbClr val="2E2E7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967101" y="3540067"/>
              <a:ext cx="7420902" cy="398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8"/>
                </a:lnSpc>
              </a:pPr>
              <a:r>
                <a:rPr lang="en-US" sz="1800" b="true">
                  <a:solidFill>
                    <a:srgbClr val="FFB54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Short-term</a:t>
              </a:r>
              <a:r>
                <a:rPr lang="en-US" sz="1800" b="true">
                  <a:solidFill>
                    <a:srgbClr val="54545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uses regression + ARMA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813409" y="3340108"/>
              <a:ext cx="789095" cy="634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2"/>
                </a:lnSpc>
              </a:pPr>
              <a:r>
                <a:rPr lang="en-US" sz="2894">
                  <a:solidFill>
                    <a:srgbClr val="FFB547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38100"/>
              <a:ext cx="6652307" cy="791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8"/>
                </a:lnSpc>
              </a:pPr>
              <a:r>
                <a:rPr lang="en-US" sz="1800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The model splits demand into</a:t>
              </a:r>
            </a:p>
            <a:p>
              <a:pPr algn="l">
                <a:lnSpc>
                  <a:spcPts val="2358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364266" y="7407566"/>
            <a:ext cx="7505349" cy="194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2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model performs well (~3% error), but it depends on future macroeconomic and weather data.  </a:t>
            </a:r>
            <a:r>
              <a:rPr lang="en-US" b="true" sz="1800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The hybrid model balances interpretability and accuracy, providing reliable long-term electricity forecasts </a:t>
            </a: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while capturing complex real-world patterns.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73467" y="-2715047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13415" y="2882838"/>
            <a:ext cx="8037157" cy="2328109"/>
            <a:chOff x="0" y="0"/>
            <a:chExt cx="10716209" cy="310414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271092" y="1206283"/>
              <a:ext cx="9445118" cy="504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0"/>
                </a:lnSpc>
              </a:pPr>
              <a:r>
                <a:rPr lang="en-US" sz="2328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Requires future macroeconomic data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271092" y="2498097"/>
              <a:ext cx="9445118" cy="504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50"/>
                </a:lnSpc>
              </a:pPr>
              <a:r>
                <a:rPr lang="en-US" sz="2328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Depends on weather projections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5212679" cy="5979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58"/>
                </a:lnSpc>
              </a:pPr>
              <a:r>
                <a:rPr lang="en-US" sz="2716">
                  <a:solidFill>
                    <a:srgbClr val="2E2E7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Limitation: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1284393"/>
              <a:ext cx="601995" cy="405594"/>
            </a:xfrm>
            <a:custGeom>
              <a:avLst/>
              <a:gdLst/>
              <a:ahLst/>
              <a:cxnLst/>
              <a:rect r="r" b="b" t="t" l="l"/>
              <a:pathLst>
                <a:path h="405594" w="601995">
                  <a:moveTo>
                    <a:pt x="0" y="0"/>
                  </a:moveTo>
                  <a:lnTo>
                    <a:pt x="601995" y="0"/>
                  </a:lnTo>
                  <a:lnTo>
                    <a:pt x="601995" y="405594"/>
                  </a:lnTo>
                  <a:lnTo>
                    <a:pt x="0" y="405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698552"/>
              <a:ext cx="601995" cy="405594"/>
            </a:xfrm>
            <a:custGeom>
              <a:avLst/>
              <a:gdLst/>
              <a:ahLst/>
              <a:cxnLst/>
              <a:rect r="r" b="b" t="t" l="l"/>
              <a:pathLst>
                <a:path h="405594" w="601995">
                  <a:moveTo>
                    <a:pt x="0" y="0"/>
                  </a:moveTo>
                  <a:lnTo>
                    <a:pt x="601995" y="0"/>
                  </a:lnTo>
                  <a:lnTo>
                    <a:pt x="601995" y="405594"/>
                  </a:lnTo>
                  <a:lnTo>
                    <a:pt x="0" y="405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9172" y="2060819"/>
            <a:ext cx="1926906" cy="19269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9970" t="0" r="-997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336078" y="2060819"/>
            <a:ext cx="1926906" cy="192690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38888" t="0" r="-3888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62984" y="2060819"/>
            <a:ext cx="1926906" cy="192690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25046" t="0" r="-2504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189890" y="2060819"/>
            <a:ext cx="963453" cy="96345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25046" t="0" r="-2504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725161" y="6036385"/>
            <a:ext cx="8598117" cy="859811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>
                <a:alphaModFix amt="68000"/>
              </a:blip>
              <a:stretch>
                <a:fillRect l="0" t="-16747" r="0" b="-16747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-1189185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70" y="0"/>
                </a:lnTo>
                <a:lnTo>
                  <a:pt x="2378370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09172" y="5143500"/>
            <a:ext cx="8070187" cy="3064152"/>
            <a:chOff x="0" y="0"/>
            <a:chExt cx="10760249" cy="4085536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209550"/>
              <a:ext cx="10760249" cy="1388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48"/>
                </a:lnSpc>
              </a:pPr>
              <a:r>
                <a:rPr lang="en-US" sz="7863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Future Work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251741"/>
              <a:ext cx="9519354" cy="1833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667"/>
                </a:lnSpc>
                <a:buFont typeface="Arial"/>
                <a:buChar char="•"/>
              </a:pPr>
              <a:r>
                <a:rPr lang="en-US" sz="2799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Apply to other countries (Myanmar)</a:t>
              </a:r>
            </a:p>
            <a:p>
              <a:pPr algn="l">
                <a:lnSpc>
                  <a:spcPts val="3667"/>
                </a:lnSpc>
              </a:pPr>
            </a:p>
            <a:p>
              <a:pPr algn="l" marL="604519" indent="-302260" lvl="1">
                <a:lnSpc>
                  <a:spcPts val="3667"/>
                </a:lnSpc>
                <a:buFont typeface="Arial"/>
                <a:buChar char="•"/>
              </a:pPr>
              <a:r>
                <a:rPr lang="en-US" sz="2799">
                  <a:solidFill>
                    <a:srgbClr val="545454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Fully automated forecasting system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04485" y="2338265"/>
            <a:ext cx="12587979" cy="3553309"/>
            <a:chOff x="0" y="0"/>
            <a:chExt cx="16783972" cy="473774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76250"/>
              <a:ext cx="16783972" cy="3193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811"/>
                </a:lnSpc>
              </a:pPr>
              <a:r>
                <a:rPr lang="en-US" sz="18062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Thank You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287082" y="2901647"/>
              <a:ext cx="15569996" cy="1836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541"/>
                </a:lnSpc>
              </a:pPr>
              <a:r>
                <a:rPr lang="en-US" sz="10416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For Your Attention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9557" y="8563737"/>
            <a:ext cx="3954563" cy="69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is not about numbers, it's about understanding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898968" y="616695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37014" y="-741289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29557" y="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2593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E1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690547" y="6715209"/>
            <a:ext cx="489375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5"/>
              </a:lnSpc>
            </a:pPr>
            <a:r>
              <a:rPr lang="en-US" sz="2100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Special Thanks to </a:t>
            </a:r>
            <a:r>
              <a:rPr lang="en-US" b="true" sz="2100">
                <a:solidFill>
                  <a:srgbClr val="2E2E72"/>
                </a:solidFill>
                <a:latin typeface="Poppins Bold"/>
                <a:ea typeface="Poppins Bold"/>
                <a:cs typeface="Poppins Bold"/>
                <a:sym typeface="Poppins Bold"/>
              </a:rPr>
              <a:t>Prof. Sithu Aung</a:t>
            </a:r>
            <a:r>
              <a:rPr lang="en-US" sz="2100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 for your guidance and support throughout the course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93253" y="1672387"/>
            <a:ext cx="10701494" cy="9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References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578134"/>
            <a:ext cx="1855978" cy="3708866"/>
          </a:xfrm>
          <a:custGeom>
            <a:avLst/>
            <a:gdLst/>
            <a:ahLst/>
            <a:cxnLst/>
            <a:rect r="r" b="b" t="t" l="l"/>
            <a:pathLst>
              <a:path h="3708866" w="1855978">
                <a:moveTo>
                  <a:pt x="0" y="0"/>
                </a:moveTo>
                <a:lnTo>
                  <a:pt x="1855978" y="0"/>
                </a:lnTo>
                <a:lnTo>
                  <a:pt x="1855978" y="3708866"/>
                </a:lnTo>
                <a:lnTo>
                  <a:pt x="0" y="370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62658" y="3152669"/>
            <a:ext cx="13562685" cy="5279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5256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Grandon, T. G., Schwenzer, J., Steens, T., &amp; Breuing, J. (2023, April 11). Electricity Demand Forecasting with Hybrid Statistical and Machine Learning Algorithms: Case Study of Ukraine. arXiv.org. https://arxiv.org/abs/2304.05174</a:t>
            </a:r>
          </a:p>
          <a:p>
            <a:pPr algn="l">
              <a:lnSpc>
                <a:spcPts val="5256"/>
              </a:lnSpc>
            </a:pPr>
          </a:p>
          <a:p>
            <a:pPr algn="l" marL="518160" indent="-259080" lvl="1">
              <a:lnSpc>
                <a:spcPts val="5256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Huang, C., &amp; Petukhina, A. (2022). Applied Time Series Analysis and Forecasting with Python. In Statisctics and computing/Statistics and computing. https://doi.org/10.1007/978-3-031-13584-2</a:t>
            </a:r>
          </a:p>
          <a:p>
            <a:pPr algn="l">
              <a:lnSpc>
                <a:spcPts val="525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80013" y="700529"/>
            <a:ext cx="5601237" cy="709327"/>
            <a:chOff x="0" y="0"/>
            <a:chExt cx="7468317" cy="945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1145" cy="945769"/>
            </a:xfrm>
            <a:custGeom>
              <a:avLst/>
              <a:gdLst/>
              <a:ahLst/>
              <a:cxnLst/>
              <a:rect r="r" b="b" t="t" l="l"/>
              <a:pathLst>
                <a:path h="945769" w="1011145">
                  <a:moveTo>
                    <a:pt x="0" y="0"/>
                  </a:moveTo>
                  <a:lnTo>
                    <a:pt x="1011145" y="0"/>
                  </a:lnTo>
                  <a:lnTo>
                    <a:pt x="1011145" y="945769"/>
                  </a:lnTo>
                  <a:lnTo>
                    <a:pt x="0" y="945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65962" y="261921"/>
              <a:ext cx="6102355" cy="417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STAT303: Time Series Analysis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DAHIktduF_k</dc:identifier>
  <dcterms:modified xsi:type="dcterms:W3CDTF">2011-08-01T06:04:30Z</dcterms:modified>
  <cp:revision>1</cp:revision>
  <dc:title>Paper Presentation: Electricity Demand Forecasting - Thant Sin Tun</dc:title>
</cp:coreProperties>
</file>